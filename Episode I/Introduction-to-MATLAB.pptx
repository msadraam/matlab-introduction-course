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52"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Consolas" panose="020B0609020204030204" pitchFamily="49" charset="0"/>
      <p:regular r:id="rId13"/>
      <p:bold r:id="rId14"/>
      <p:italic r:id="rId15"/>
      <p:boldItalic r:id="rId16"/>
    </p:embeddedFont>
    <p:embeddedFont>
      <p:font typeface="Inter" panose="020B0604020202020204" charset="0"/>
      <p:regular r:id="rId17"/>
    </p:embeddedFont>
    <p:embeddedFont>
      <p:font typeface="Inter Black" panose="020B0604020202020204" charset="0"/>
      <p:regular r:id="rId18"/>
    </p:embeddedFont>
    <p:embeddedFont>
      <p:font typeface="Inter Bold" panose="020B0604020202020204" charset="0"/>
      <p:regular r:id="rId19"/>
    </p:embeddedFont>
    <p:embeddedFont>
      <p:font typeface="Inter ExtraBold" panose="020B0604020202020204" charset="0"/>
      <p:regular r:id="rId20"/>
    </p:embeddedFont>
    <p:embeddedFont>
      <p:font typeface="Inter Medium" panose="020B0604020202020204" charset="0"/>
      <p:regular r:id="rId2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3" d="100"/>
          <a:sy n="83" d="100"/>
        </p:scale>
        <p:origin x="65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45913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are introducing MATLAB, which stands for Matrix Laboratory. Whether you are studying electrical circuits, mechanical vibrations, robotics, or biomedical signal analysis, MATLAB is the industry and academic benchmark for turning mathematical equations and raw sensor data into working engineering solutions. Notice the workbench setup illustrated here: in practice, MATLAB connects directly to physical hardware and scopes to analyze real physical signals in real time. Over the next forty-five minutes, we will look at how MATLAB is built, how it thinks in matrices, and how you can use it immediately in your lab courses. Let us start with where MATLAB came from and how its workspace is organized.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MATLAB, it helps to understand its history. In the 1970s, Cleve Moler created it so students could work with matrix methods and numerical libraries such as LINPACK and EISPACK. MathWorks was founded in 1984, and MATLAB grew into a broader technical computing platform. Use the illustration on the right as a guide to the environment's main areas: enter and test commands in the Command Window, write reusable scripts and functions in the Editor, inspect variables and data in the Workspace, and view plots in the Figure Window. For example, after calculating a value in the Command Window, you can check the resulting variable in the Workspace and then plot it in a Figure Window. The key rule at the bottom is that variables remain in memory until you clear them or close MATLAB. Next, we will see why MATLAB's matrix syntax makes mathematics readable.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highlights MATLAB's strength in mathematical readability. In languages like C or Java, computing the product of two two-by-two matrices requires allocating memory, declaring variables, and writing nested loops over rows and columns. In MATLAB, you write A equals bracket one two semicolon three four bracket, and C equals A times B. Look at the formula: the asterisk operator carries out standard row-by-column linear algebra multiplication. Row one times column one gives one times five plus two times seven, which is nineteen. Row one times column two gives one times six plus two times eight, which is twenty-two. Row two times column one gives three times five plus four times seven, which is forty-three; row two times column two gives three times six plus four times eight, yielding fifty. If you want element-wise multiplication instead of matrix multiplication, use dot-star. The lower text connects arrays and indexing with programming fundamentals, optimized whole-array operations, and reusable functions. Now that we can calculate matrix equations, let us see how MATLAB handles real data and generates plots.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science and laboratory experiments depend on moving quickly from messy measurements to an interpretable plot. In MATLAB, the script shown on the left generates the exact curve rendered on the right. Look at line one: x equals zero colon zero point one colon ten creates a row vector from zero to ten in steps of one-tenth. Line two computes the sine of every single element in that vector in one call. The plot command renders the line, while xlabel, ylabel, title, and grid on turn a raw curve into a properly documented scientific figure. Beyond two-dimensional line plots, MATLAB supports scatter plots for correlation analysis, bar charts for categorical comparison, and three-dimensional surface meshes for multivariable functions. Before making engineering decisions, visualizing trends and outliers is essential. But what happens when our system is dynamic, involving differential equations, feedback loops, and motors? For that, we step into Simulink.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often wonder how MATLAB and Simulink relate to each other. Think of MATLAB as the command console and calculation engine, while Simulink is the virtual laboratory workbench. In Simulink, instead of writing lines of differential equations, you drag blocks representing mathematical integrators, transfer functions, controllers, and sensors, wiring them together into a visual block diagram. Examine the infographic on the right showing a classic electric motor speed control loop: you set a target speed, the summing junction measures the difference between target and current speed, the PID controller adjusts the motor voltage, and the feedback loop corrects for disturbances before building physical prototypes. In automotive, aerospace, and robotics companies, engineers test thousands of virtual hours in Simulink before a single piece of metal is cut. Next, let us explore how MATLAB handles real-world physical waveforms through digital signal processing.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Signal processing is one of MATLAB's most prominent real-world applications. When an acoustic sensor, an electrocardiogram lead, or a radio receiver picks up a signal, the data arrives mixed with ambient electrical interference. In the time domain, looking at voltage over time, the signal often appears as a jagged, unreadable mess. But when you apply the Fast Fourier Transform using the fft function, shown in step two and plotted in the spectrum chart below, the mathematical transformation reveals the hidden frequencies. Notice the dramatic spike at fifty hertz: even with random noise spread across the spectrum, the underlying frequency jumps out immediately. From there, you can design a digital filter using functions like butter or designfilt to reject unwanted bands and reconstruct the clean message. Just as one-dimensional signals are arrays over time, two-dimensional signals are matrices of pixels. That brings us directly to image processing.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MATLAB's core foundation is the matrix, digital image processing feels completely natural. When you load a grayscale picture with imread, MATLAB treats it as a two-dimensional grid of numbers ranging from zero for black to 255 for white. For color images, it is an M-by-N-by-three tensor representing red, green, and blue color channels. On the left, Fig. 7.1 illustrates a research application: analyzing a medical CT scan slice. By applying mathematical convolution filters, an engineer can suppress scanner noise, detect organ boundaries with algorithms like Canny edge detection, and measure geometric properties like tumor perimeter or cross-sectional area with regionprops. Notice the essential disclaimer at the bottom: in biomedical engineering, MATLAB serves as a powerful computational research tool, but real-world diagnostic deployment requires formal clinical regulatory certification. Once we can extract features from images or signals, our next step is to teach machines to recognize patterns automatically using machine learning.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Machine learning uses data to recognize patterns and make predictions. Start with the three-part diagram: prepared features enter the network, hidden layers learn patterns, and the output is a predicted class. For example, a set of measurements from a home can be used to predict its price; that is regression because the result is a number. By contrast, sorting an image into a category is classification. In practice, prepare the data, extract useful features, then train, test, and evaluate a model so you can check how well it performs on examples it did not learn from. Neural networks and deep learning are among the model approaches students may encounter. Some advanced capabilities require products such as Statistics and Machine Learning Toolbox or Deep Learning Toolbox. The examples on the slide include house-price prediction, image classification, and medical-image dataset research. Next, we will step back and consider MATLAB's broader engineering trade-offs.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MATLAB can support work across engineering fields. The table pairs electrical with mechanical applications, robotics with aerospace, and computer with industrial engineering. For example, a robotics student might use trajectory planning and control to explore how a robot moves. The comparison panel balances benefits—mathematical functions, scientific visualization, specialized tools, and fast prototyping—against licensing costs and paid toolboxes. Python is one open-source alternative for some projects. The right tool depends on a project's goals and constraints. Next, we will look at ways to begin learning MATLAB with official resources.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our introductory workshop, the secret to learning MATLAB is not memorizing hundreds of functions from a reference manual; it is starting with a tiny problem and building upward. Begin this week with the two-hour MATLAB Onramp hosted at MATLAB Academy—it runs entirely in your web browser with interactive automated grading and requires no software installation. Once comfortable with basic variables and array indexing, write your own functions, plot experimental lab data, and choose one toolbox that aligns with your engineering major. When you get stuck, the official documentation at mathworks.com/help is arguably the finest technical reference in computational science, full of complete runnable examples. Thank you for your time and active attention today. I will now open the floor for any questions, code demonstrations, or discussion.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10/25/2026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797875914"/>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10/25/2026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2376508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10/25/2026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1010613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10/25/2026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31772201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10/25/2026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4859059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10/25/2026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559507189"/>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10/25/2026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01625223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10/25/2026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22673027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10/25/2026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0849422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10/25/2026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8574374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10/25/2026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57807370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master 1">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480235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master 2">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58334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10/25/2026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4215213175"/>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664" r:id="rId12"/>
    <p:sldLayoutId id="2147483665" r:id="rId13"/>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hyperlink" Target="https://matlabacademy.mathworks.com/" TargetMode="External"/><Relationship Id="rId2" Type="http://schemas.openxmlformats.org/officeDocument/2006/relationships/notesSlide" Target="../notesSlides/notesSlide10.xml"/><Relationship Id="rId1" Type="http://schemas.openxmlformats.org/officeDocument/2006/relationships/slideLayout" Target="../slideLayouts/slideLayout13.xml"/><Relationship Id="rId5" Type="http://schemas.openxmlformats.org/officeDocument/2006/relationships/hyperlink" Target="https://www.mathworks.com/products/matlab.html" TargetMode="External"/><Relationship Id="rId4" Type="http://schemas.openxmlformats.org/officeDocument/2006/relationships/hyperlink" Target="https://www.mathworks.com/help/matlab/"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09585" y="1333500"/>
            <a:ext cx="6349841" cy="4191000"/>
          </a:xfrm>
          <a:prstGeom prst="rect">
            <a:avLst/>
          </a:prstGeom>
          <a:solidFill>
            <a:srgbClr val="EAF4FB"/>
          </a:solidFill>
          <a:ln w="12700">
            <a:solidFill>
              <a:srgbClr val="0B2D5C"/>
            </a:solidFill>
            <a:prstDash val="solid"/>
          </a:ln>
        </p:spPr>
        <p:txBody>
          <a:bodyPr/>
          <a:lstStyle/>
          <a:p>
            <a:endParaRPr lang="en-US"/>
          </a:p>
        </p:txBody>
      </p:sp>
      <p:sp>
        <p:nvSpPr>
          <p:cNvPr id="3" name="Text 1"/>
          <p:cNvSpPr/>
          <p:nvPr/>
        </p:nvSpPr>
        <p:spPr>
          <a:xfrm>
            <a:off x="977876" y="1686719"/>
            <a:ext cx="6222844" cy="206375"/>
          </a:xfrm>
          <a:prstGeom prst="rect">
            <a:avLst/>
          </a:prstGeom>
          <a:noFill/>
          <a:ln/>
        </p:spPr>
        <p:txBody>
          <a:bodyPr wrap="none" lIns="0" tIns="0" rIns="0" bIns="0" rtlCol="0" anchor="t"/>
          <a:lstStyle/>
          <a:p>
            <a:pPr marL="0" indent="0" algn="l">
              <a:lnSpc>
                <a:spcPct val="104000"/>
              </a:lnSpc>
              <a:buNone/>
            </a:pPr>
            <a:endParaRPr lang="en-US" sz="1300" dirty="0"/>
          </a:p>
        </p:txBody>
      </p:sp>
      <p:sp>
        <p:nvSpPr>
          <p:cNvPr id="4" name="Text 2"/>
          <p:cNvSpPr/>
          <p:nvPr/>
        </p:nvSpPr>
        <p:spPr>
          <a:xfrm>
            <a:off x="977876" y="2016586"/>
            <a:ext cx="5613260" cy="1117600"/>
          </a:xfrm>
          <a:prstGeom prst="rect">
            <a:avLst/>
          </a:prstGeom>
          <a:noFill/>
          <a:ln/>
        </p:spPr>
        <p:txBody>
          <a:bodyPr wrap="square" lIns="0" tIns="0" rIns="0" bIns="0" rtlCol="0" anchor="t">
            <a:normAutofit lnSpcReduction="10000"/>
          </a:bodyPr>
          <a:lstStyle/>
          <a:p>
            <a:pPr marL="0" indent="0" algn="l">
              <a:lnSpc>
                <a:spcPct val="83000"/>
              </a:lnSpc>
              <a:buNone/>
            </a:pPr>
            <a:r>
              <a:rPr lang="en-US" sz="4400" kern="100" spc="-88" dirty="0">
                <a:solidFill>
                  <a:srgbClr val="1F2937"/>
                </a:solidFill>
                <a:latin typeface="Inter Black" pitchFamily="34" charset="0"/>
                <a:ea typeface="Inter Black" pitchFamily="34" charset="-122"/>
                <a:cs typeface="Inter Black" pitchFamily="34" charset="-120"/>
              </a:rPr>
              <a:t>Introduction to MATLAB</a:t>
            </a:r>
            <a:endParaRPr lang="en-US" sz="4400" dirty="0"/>
          </a:p>
        </p:txBody>
      </p:sp>
      <p:sp>
        <p:nvSpPr>
          <p:cNvPr id="5" name="Text 3"/>
          <p:cNvSpPr/>
          <p:nvPr/>
        </p:nvSpPr>
        <p:spPr>
          <a:xfrm>
            <a:off x="977876" y="3247549"/>
            <a:ext cx="5613260" cy="626070"/>
          </a:xfrm>
          <a:prstGeom prst="rect">
            <a:avLst/>
          </a:prstGeom>
          <a:noFill/>
          <a:ln/>
        </p:spPr>
        <p:txBody>
          <a:bodyPr wrap="square" lIns="0" tIns="0" rIns="0" bIns="0" rtlCol="0" anchor="t">
            <a:normAutofit/>
          </a:bodyPr>
          <a:lstStyle/>
          <a:p>
            <a:pPr marL="0" indent="0" algn="l">
              <a:lnSpc>
                <a:spcPct val="121000"/>
              </a:lnSpc>
              <a:buNone/>
            </a:pPr>
            <a:r>
              <a:rPr lang="en-US" sz="1700" dirty="0">
                <a:solidFill>
                  <a:srgbClr val="1F2937"/>
                </a:solidFill>
                <a:latin typeface="Inter" pitchFamily="34" charset="0"/>
                <a:ea typeface="Inter" pitchFamily="34" charset="-122"/>
                <a:cs typeface="Inter" pitchFamily="34" charset="-120"/>
              </a:rPr>
              <a:t>Matrix Laboratory for numerical computing, scientific programming, and engineering analysis.</a:t>
            </a:r>
            <a:endParaRPr lang="en-US" sz="1700" dirty="0"/>
          </a:p>
        </p:txBody>
      </p:sp>
      <p:sp>
        <p:nvSpPr>
          <p:cNvPr id="6" name="Shape 4"/>
          <p:cNvSpPr/>
          <p:nvPr/>
        </p:nvSpPr>
        <p:spPr>
          <a:xfrm>
            <a:off x="977876" y="4069358"/>
            <a:ext cx="5613160" cy="31651"/>
          </a:xfrm>
          <a:prstGeom prst="roundRect">
            <a:avLst>
              <a:gd name="adj" fmla="val 49998"/>
            </a:avLst>
          </a:prstGeom>
          <a:solidFill>
            <a:srgbClr val="0B2D5C"/>
          </a:solidFill>
          <a:ln/>
        </p:spPr>
        <p:txBody>
          <a:bodyPr/>
          <a:lstStyle/>
          <a:p>
            <a:endParaRPr lang="en-US"/>
          </a:p>
        </p:txBody>
      </p:sp>
      <p:sp>
        <p:nvSpPr>
          <p:cNvPr id="7" name="Text 5"/>
          <p:cNvSpPr/>
          <p:nvPr/>
        </p:nvSpPr>
        <p:spPr>
          <a:xfrm>
            <a:off x="977876" y="4302641"/>
            <a:ext cx="6222844" cy="197148"/>
          </a:xfrm>
          <a:prstGeom prst="rect">
            <a:avLst/>
          </a:prstGeom>
          <a:noFill/>
          <a:ln/>
        </p:spPr>
        <p:txBody>
          <a:bodyPr wrap="none" lIns="0" tIns="0" rIns="0" bIns="0" rtlCol="0" anchor="t"/>
          <a:lstStyle/>
          <a:p>
            <a:pPr marL="0" indent="0" algn="l">
              <a:lnSpc>
                <a:spcPct val="113000"/>
              </a:lnSpc>
              <a:buNone/>
            </a:pP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632904"/>
            <a:ext cx="10972526" cy="949920"/>
          </a:xfrm>
          <a:prstGeom prst="rect">
            <a:avLst/>
          </a:prstGeom>
          <a:noFill/>
          <a:ln/>
        </p:spPr>
        <p:txBody>
          <a:bodyPr wrap="square" lIns="0" tIns="0" rIns="0" bIns="0" rtlCol="0" anchor="t">
            <a:normAutofit lnSpcReduction="10000"/>
          </a:bodyPr>
          <a:lstStyle/>
          <a:p>
            <a:pPr marL="0" indent="0" algn="l">
              <a:lnSpc>
                <a:spcPct val="92000"/>
              </a:lnSpc>
              <a:buNone/>
            </a:pPr>
            <a:r>
              <a:rPr lang="en-US" sz="3400" kern="100" spc="-17" dirty="0">
                <a:solidFill>
                  <a:srgbClr val="0B2D5C"/>
                </a:solidFill>
                <a:latin typeface="Inter ExtraBold" pitchFamily="34" charset="0"/>
                <a:ea typeface="Inter ExtraBold" pitchFamily="34" charset="-122"/>
                <a:cs typeface="Inter ExtraBold" pitchFamily="34" charset="-120"/>
              </a:rPr>
              <a:t>From Matrix Calculator to Technical Computing Environment</a:t>
            </a:r>
            <a:endParaRPr lang="en-US" sz="3400" dirty="0"/>
          </a:p>
        </p:txBody>
      </p:sp>
      <p:sp>
        <p:nvSpPr>
          <p:cNvPr id="3" name="Text 1"/>
          <p:cNvSpPr/>
          <p:nvPr/>
        </p:nvSpPr>
        <p:spPr>
          <a:xfrm>
            <a:off x="609585" y="1727795"/>
            <a:ext cx="6309262" cy="1104900"/>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1F2937"/>
                </a:solidFill>
                <a:latin typeface="Inter" pitchFamily="34" charset="0"/>
                <a:ea typeface="Inter" pitchFamily="34" charset="-122"/>
                <a:cs typeface="Inter" pitchFamily="34" charset="-120"/>
              </a:rPr>
              <a:t>In the 1970s, Cleve Moler created MATLAB to give students access to matrix methods and numerical libraries LINPACK and EISPACK. After MathWorks was founded in 1984, MATLAB grew into a broader technical computing platform.</a:t>
            </a:r>
            <a:endParaRPr lang="en-US" sz="1500" dirty="0"/>
          </a:p>
        </p:txBody>
      </p:sp>
      <p:sp>
        <p:nvSpPr>
          <p:cNvPr id="4" name="Text 2"/>
          <p:cNvSpPr/>
          <p:nvPr/>
        </p:nvSpPr>
        <p:spPr>
          <a:xfrm>
            <a:off x="609585" y="2939852"/>
            <a:ext cx="3002185" cy="288925"/>
          </a:xfrm>
          <a:prstGeom prst="rect">
            <a:avLst/>
          </a:prstGeom>
          <a:noFill/>
          <a:ln/>
        </p:spPr>
        <p:txBody>
          <a:bodyPr wrap="none" lIns="0" tIns="0" rIns="0" bIns="0" rtlCol="0" anchor="t"/>
          <a:lstStyle/>
          <a:p>
            <a:pPr marL="0" indent="0" algn="l">
              <a:lnSpc>
                <a:spcPct val="108000"/>
              </a:lnSpc>
              <a:buNone/>
            </a:pPr>
            <a:r>
              <a:rPr lang="en-US" sz="1750" dirty="0">
                <a:solidFill>
                  <a:srgbClr val="0B2D5C"/>
                </a:solidFill>
                <a:latin typeface="Inter" pitchFamily="34" charset="0"/>
                <a:ea typeface="Inter" pitchFamily="34" charset="-122"/>
                <a:cs typeface="Inter" pitchFamily="34" charset="-120"/>
              </a:rPr>
              <a:t>Command Window</a:t>
            </a:r>
            <a:endParaRPr lang="en-US" sz="1750" dirty="0"/>
          </a:p>
        </p:txBody>
      </p:sp>
      <p:sp>
        <p:nvSpPr>
          <p:cNvPr id="5" name="Text 3"/>
          <p:cNvSpPr/>
          <p:nvPr/>
        </p:nvSpPr>
        <p:spPr>
          <a:xfrm>
            <a:off x="609585" y="3340695"/>
            <a:ext cx="3154581" cy="248543"/>
          </a:xfrm>
          <a:prstGeom prst="rect">
            <a:avLst/>
          </a:prstGeom>
          <a:noFill/>
          <a:ln/>
        </p:spPr>
        <p:txBody>
          <a:bodyPr wrap="none" lIns="0" tIns="0" rIns="0" bIns="0" rtlCol="0" anchor="t"/>
          <a:lstStyle/>
          <a:p>
            <a:pPr marL="0" indent="0" algn="l">
              <a:lnSpc>
                <a:spcPct val="121000"/>
              </a:lnSpc>
              <a:buNone/>
            </a:pPr>
            <a:r>
              <a:rPr lang="en-US" sz="1350" dirty="0">
                <a:solidFill>
                  <a:srgbClr val="1F2937"/>
                </a:solidFill>
                <a:latin typeface="Inter" pitchFamily="34" charset="0"/>
                <a:ea typeface="Inter" pitchFamily="34" charset="-122"/>
                <a:cs typeface="Inter" pitchFamily="34" charset="-120"/>
              </a:rPr>
              <a:t>Run commands directly.</a:t>
            </a:r>
            <a:endParaRPr lang="en-US" sz="1350" dirty="0"/>
          </a:p>
        </p:txBody>
      </p:sp>
      <p:sp>
        <p:nvSpPr>
          <p:cNvPr id="6" name="Text 4"/>
          <p:cNvSpPr/>
          <p:nvPr/>
        </p:nvSpPr>
        <p:spPr>
          <a:xfrm>
            <a:off x="3916562" y="2939852"/>
            <a:ext cx="3002284" cy="288925"/>
          </a:xfrm>
          <a:prstGeom prst="rect">
            <a:avLst/>
          </a:prstGeom>
          <a:noFill/>
          <a:ln/>
        </p:spPr>
        <p:txBody>
          <a:bodyPr wrap="none" lIns="0" tIns="0" rIns="0" bIns="0" rtlCol="0" anchor="t"/>
          <a:lstStyle/>
          <a:p>
            <a:pPr marL="0" indent="0" algn="l">
              <a:lnSpc>
                <a:spcPct val="108000"/>
              </a:lnSpc>
              <a:buNone/>
            </a:pPr>
            <a:r>
              <a:rPr lang="en-US" sz="1750" dirty="0">
                <a:solidFill>
                  <a:srgbClr val="0B2D5C"/>
                </a:solidFill>
                <a:latin typeface="Inter" pitchFamily="34" charset="0"/>
                <a:ea typeface="Inter" pitchFamily="34" charset="-122"/>
                <a:cs typeface="Inter" pitchFamily="34" charset="-120"/>
              </a:rPr>
              <a:t>Editor &amp; Live Editor</a:t>
            </a:r>
            <a:endParaRPr lang="en-US" sz="1750" dirty="0"/>
          </a:p>
        </p:txBody>
      </p:sp>
      <p:sp>
        <p:nvSpPr>
          <p:cNvPr id="7" name="Text 5"/>
          <p:cNvSpPr/>
          <p:nvPr/>
        </p:nvSpPr>
        <p:spPr>
          <a:xfrm>
            <a:off x="3916562" y="3340695"/>
            <a:ext cx="3002284" cy="248543"/>
          </a:xfrm>
          <a:prstGeom prst="rect">
            <a:avLst/>
          </a:prstGeom>
          <a:noFill/>
          <a:ln/>
        </p:spPr>
        <p:txBody>
          <a:bodyPr wrap="none" lIns="0" tIns="0" rIns="0" bIns="0" rtlCol="0" anchor="t"/>
          <a:lstStyle/>
          <a:p>
            <a:pPr marL="0" indent="0" algn="l">
              <a:lnSpc>
                <a:spcPct val="121000"/>
              </a:lnSpc>
              <a:buNone/>
            </a:pPr>
            <a:r>
              <a:rPr lang="en-US" sz="1350" dirty="0">
                <a:solidFill>
                  <a:srgbClr val="1F2937"/>
                </a:solidFill>
                <a:latin typeface="Inter" pitchFamily="34" charset="0"/>
                <a:ea typeface="Inter" pitchFamily="34" charset="-122"/>
                <a:cs typeface="Inter" pitchFamily="34" charset="-120"/>
              </a:rPr>
              <a:t>Write scripts and functions.</a:t>
            </a:r>
            <a:endParaRPr lang="en-US" sz="1350" dirty="0"/>
          </a:p>
        </p:txBody>
      </p:sp>
      <p:sp>
        <p:nvSpPr>
          <p:cNvPr id="8" name="Text 6"/>
          <p:cNvSpPr/>
          <p:nvPr/>
        </p:nvSpPr>
        <p:spPr>
          <a:xfrm>
            <a:off x="609585" y="3902770"/>
            <a:ext cx="3002185" cy="288925"/>
          </a:xfrm>
          <a:prstGeom prst="rect">
            <a:avLst/>
          </a:prstGeom>
          <a:noFill/>
          <a:ln/>
        </p:spPr>
        <p:txBody>
          <a:bodyPr wrap="none" lIns="0" tIns="0" rIns="0" bIns="0" rtlCol="0" anchor="t"/>
          <a:lstStyle/>
          <a:p>
            <a:pPr marL="0" indent="0" algn="l">
              <a:lnSpc>
                <a:spcPct val="108000"/>
              </a:lnSpc>
              <a:buNone/>
            </a:pPr>
            <a:r>
              <a:rPr lang="en-US" sz="1750" dirty="0">
                <a:solidFill>
                  <a:srgbClr val="0B2D5C"/>
                </a:solidFill>
                <a:latin typeface="Inter" pitchFamily="34" charset="0"/>
                <a:ea typeface="Inter" pitchFamily="34" charset="-122"/>
                <a:cs typeface="Inter" pitchFamily="34" charset="-120"/>
              </a:rPr>
              <a:t>Workspace Browser</a:t>
            </a:r>
            <a:endParaRPr lang="en-US" sz="1750" dirty="0"/>
          </a:p>
        </p:txBody>
      </p:sp>
      <p:sp>
        <p:nvSpPr>
          <p:cNvPr id="9" name="Text 7"/>
          <p:cNvSpPr/>
          <p:nvPr/>
        </p:nvSpPr>
        <p:spPr>
          <a:xfrm>
            <a:off x="609585" y="4303613"/>
            <a:ext cx="3154581" cy="248543"/>
          </a:xfrm>
          <a:prstGeom prst="rect">
            <a:avLst/>
          </a:prstGeom>
          <a:noFill/>
          <a:ln/>
        </p:spPr>
        <p:txBody>
          <a:bodyPr wrap="none" lIns="0" tIns="0" rIns="0" bIns="0" rtlCol="0" anchor="t"/>
          <a:lstStyle/>
          <a:p>
            <a:pPr marL="0" indent="0" algn="l">
              <a:lnSpc>
                <a:spcPct val="121000"/>
              </a:lnSpc>
              <a:buNone/>
            </a:pPr>
            <a:r>
              <a:rPr lang="en-US" sz="1350" dirty="0">
                <a:solidFill>
                  <a:srgbClr val="1F2937"/>
                </a:solidFill>
                <a:latin typeface="Inter" pitchFamily="34" charset="0"/>
                <a:ea typeface="Inter" pitchFamily="34" charset="-122"/>
                <a:cs typeface="Inter" pitchFamily="34" charset="-120"/>
              </a:rPr>
              <a:t>Inspect variables and data.</a:t>
            </a:r>
            <a:endParaRPr lang="en-US" sz="1350" dirty="0"/>
          </a:p>
        </p:txBody>
      </p:sp>
      <p:sp>
        <p:nvSpPr>
          <p:cNvPr id="10" name="Text 8"/>
          <p:cNvSpPr/>
          <p:nvPr/>
        </p:nvSpPr>
        <p:spPr>
          <a:xfrm>
            <a:off x="3916562" y="3902770"/>
            <a:ext cx="3002284" cy="288925"/>
          </a:xfrm>
          <a:prstGeom prst="rect">
            <a:avLst/>
          </a:prstGeom>
          <a:noFill/>
          <a:ln/>
        </p:spPr>
        <p:txBody>
          <a:bodyPr wrap="none" lIns="0" tIns="0" rIns="0" bIns="0" rtlCol="0" anchor="t"/>
          <a:lstStyle/>
          <a:p>
            <a:pPr marL="0" indent="0" algn="l">
              <a:lnSpc>
                <a:spcPct val="108000"/>
              </a:lnSpc>
              <a:buNone/>
            </a:pPr>
            <a:r>
              <a:rPr lang="en-US" sz="1750" dirty="0">
                <a:solidFill>
                  <a:srgbClr val="0B2D5C"/>
                </a:solidFill>
                <a:latin typeface="Inter" pitchFamily="34" charset="0"/>
                <a:ea typeface="Inter" pitchFamily="34" charset="-122"/>
                <a:cs typeface="Inter" pitchFamily="34" charset="-120"/>
              </a:rPr>
              <a:t>Figure Window</a:t>
            </a:r>
            <a:endParaRPr lang="en-US" sz="1750" dirty="0"/>
          </a:p>
        </p:txBody>
      </p:sp>
      <p:sp>
        <p:nvSpPr>
          <p:cNvPr id="11" name="Text 9"/>
          <p:cNvSpPr/>
          <p:nvPr/>
        </p:nvSpPr>
        <p:spPr>
          <a:xfrm>
            <a:off x="3916562" y="4303613"/>
            <a:ext cx="3002284" cy="248543"/>
          </a:xfrm>
          <a:prstGeom prst="rect">
            <a:avLst/>
          </a:prstGeom>
          <a:noFill/>
          <a:ln/>
        </p:spPr>
        <p:txBody>
          <a:bodyPr wrap="none" lIns="0" tIns="0" rIns="0" bIns="0" rtlCol="0" anchor="t"/>
          <a:lstStyle/>
          <a:p>
            <a:pPr marL="0" indent="0" algn="l">
              <a:lnSpc>
                <a:spcPct val="121000"/>
              </a:lnSpc>
              <a:buNone/>
            </a:pPr>
            <a:r>
              <a:rPr lang="en-US" sz="1350" dirty="0">
                <a:solidFill>
                  <a:srgbClr val="1F2937"/>
                </a:solidFill>
                <a:latin typeface="Inter" pitchFamily="34" charset="0"/>
                <a:ea typeface="Inter" pitchFamily="34" charset="-122"/>
                <a:cs typeface="Inter" pitchFamily="34" charset="-120"/>
              </a:rPr>
              <a:t>Visualize results.</a:t>
            </a:r>
            <a:endParaRPr lang="en-US" sz="1350" dirty="0"/>
          </a:p>
        </p:txBody>
      </p:sp>
      <p:sp>
        <p:nvSpPr>
          <p:cNvPr id="12" name="Shape 10"/>
          <p:cNvSpPr/>
          <p:nvPr/>
        </p:nvSpPr>
        <p:spPr>
          <a:xfrm>
            <a:off x="7375936" y="1727795"/>
            <a:ext cx="4206174" cy="2443758"/>
          </a:xfrm>
          <a:prstGeom prst="rect">
            <a:avLst/>
          </a:prstGeom>
          <a:solidFill>
            <a:srgbClr val="FFFFFF"/>
          </a:solidFill>
          <a:ln w="12700">
            <a:solidFill>
              <a:srgbClr val="0B2D5C"/>
            </a:solidFill>
            <a:prstDash val="solid"/>
          </a:ln>
        </p:spPr>
        <p:txBody>
          <a:bodyPr/>
          <a:lstStyle/>
          <a:p>
            <a:endParaRPr lang="en-US"/>
          </a:p>
        </p:txBody>
      </p:sp>
      <p:pic>
        <p:nvPicPr>
          <p:cNvPr id="13" name="Image 0" descr="preencoded.png"/>
          <p:cNvPicPr>
            <a:picLocks noChangeAspect="1"/>
          </p:cNvPicPr>
          <p:nvPr/>
        </p:nvPicPr>
        <p:blipFill>
          <a:blip r:embed="rId3"/>
          <a:stretch>
            <a:fillRect/>
          </a:stretch>
        </p:blipFill>
        <p:spPr>
          <a:xfrm>
            <a:off x="7464834" y="1816695"/>
            <a:ext cx="4028379" cy="2265958"/>
          </a:xfrm>
          <a:prstGeom prst="rect">
            <a:avLst/>
          </a:prstGeom>
        </p:spPr>
      </p:pic>
      <p:sp>
        <p:nvSpPr>
          <p:cNvPr id="14" name="Text 11"/>
          <p:cNvSpPr/>
          <p:nvPr/>
        </p:nvSpPr>
        <p:spPr>
          <a:xfrm>
            <a:off x="7375936" y="4301649"/>
            <a:ext cx="4206174" cy="394295"/>
          </a:xfrm>
          <a:prstGeom prst="rect">
            <a:avLst/>
          </a:prstGeom>
          <a:noFill/>
          <a:ln/>
        </p:spPr>
        <p:txBody>
          <a:bodyPr wrap="square" lIns="0" tIns="0" rIns="0" bIns="0" rtlCol="0" anchor="t">
            <a:normAutofit/>
          </a:bodyPr>
          <a:lstStyle/>
          <a:p>
            <a:pPr marL="0" indent="0" algn="l">
              <a:lnSpc>
                <a:spcPct val="113000"/>
              </a:lnSpc>
              <a:buNone/>
            </a:pPr>
            <a:r>
              <a:rPr lang="en-US" sz="1150" kern="100" spc="6" dirty="0">
                <a:solidFill>
                  <a:srgbClr val="5B6B7A"/>
                </a:solidFill>
                <a:latin typeface="Inter Medium" pitchFamily="34" charset="0"/>
                <a:ea typeface="Inter Medium" pitchFamily="34" charset="-122"/>
                <a:cs typeface="Inter Medium" pitchFamily="34" charset="-120"/>
              </a:rPr>
              <a:t>Fig. 2.1 The standard MATLAB desktop layout with docked tool windows</a:t>
            </a:r>
            <a:endParaRPr lang="en-US" sz="1150" dirty="0"/>
          </a:p>
        </p:txBody>
      </p:sp>
      <p:sp>
        <p:nvSpPr>
          <p:cNvPr id="15" name="Shape 12"/>
          <p:cNvSpPr/>
          <p:nvPr/>
        </p:nvSpPr>
        <p:spPr>
          <a:xfrm>
            <a:off x="7375936" y="4791273"/>
            <a:ext cx="841156" cy="755650"/>
          </a:xfrm>
          <a:prstGeom prst="rect">
            <a:avLst/>
          </a:prstGeom>
          <a:solidFill>
            <a:srgbClr val="173F73"/>
          </a:solidFill>
          <a:ln/>
        </p:spPr>
        <p:txBody>
          <a:bodyPr/>
          <a:lstStyle/>
          <a:p>
            <a:endParaRPr lang="en-US"/>
          </a:p>
        </p:txBody>
      </p:sp>
      <p:sp>
        <p:nvSpPr>
          <p:cNvPr id="16" name="Text 13"/>
          <p:cNvSpPr/>
          <p:nvPr/>
        </p:nvSpPr>
        <p:spPr>
          <a:xfrm>
            <a:off x="7528332" y="4892873"/>
            <a:ext cx="536363" cy="552450"/>
          </a:xfrm>
          <a:prstGeom prst="rect">
            <a:avLst/>
          </a:prstGeom>
          <a:noFill/>
          <a:ln/>
        </p:spPr>
        <p:txBody>
          <a:bodyPr wrap="square" lIns="0" tIns="0" rIns="0" bIns="0" rtlCol="0" anchor="t">
            <a:normAutofit/>
          </a:bodyPr>
          <a:lstStyle/>
          <a:p>
            <a:pPr marL="0" indent="0" algn="l">
              <a:lnSpc>
                <a:spcPct val="121000"/>
              </a:lnSpc>
              <a:buNone/>
            </a:pPr>
            <a:r>
              <a:rPr lang="en-US" sz="1500" b="1" dirty="0">
                <a:solidFill>
                  <a:srgbClr val="FFFFFF"/>
                </a:solidFill>
                <a:latin typeface="Inter Bold" pitchFamily="34" charset="0"/>
                <a:ea typeface="Inter Bold" pitchFamily="34" charset="-122"/>
                <a:cs typeface="Inter Bold" pitchFamily="34" charset="-120"/>
              </a:rPr>
              <a:t>Key rule</a:t>
            </a:r>
            <a:endParaRPr lang="en-US" sz="1500" dirty="0"/>
          </a:p>
        </p:txBody>
      </p:sp>
      <p:sp>
        <p:nvSpPr>
          <p:cNvPr id="17" name="Shape 14"/>
          <p:cNvSpPr/>
          <p:nvPr/>
        </p:nvSpPr>
        <p:spPr>
          <a:xfrm>
            <a:off x="8217091" y="4791273"/>
            <a:ext cx="3365019" cy="755650"/>
          </a:xfrm>
          <a:prstGeom prst="rect">
            <a:avLst/>
          </a:prstGeom>
          <a:solidFill>
            <a:srgbClr val="EDF6FC"/>
          </a:solidFill>
          <a:ln/>
        </p:spPr>
        <p:txBody>
          <a:bodyPr/>
          <a:lstStyle/>
          <a:p>
            <a:endParaRPr lang="en-US"/>
          </a:p>
        </p:txBody>
      </p:sp>
      <p:sp>
        <p:nvSpPr>
          <p:cNvPr id="18" name="Text 15"/>
          <p:cNvSpPr/>
          <p:nvPr/>
        </p:nvSpPr>
        <p:spPr>
          <a:xfrm>
            <a:off x="8369487" y="4917380"/>
            <a:ext cx="3060227" cy="503436"/>
          </a:xfrm>
          <a:prstGeom prst="rect">
            <a:avLst/>
          </a:prstGeom>
          <a:noFill/>
          <a:ln/>
        </p:spPr>
        <p:txBody>
          <a:bodyPr wrap="square" lIns="0" tIns="0" rIns="0" bIns="0" rtlCol="0" anchor="t">
            <a:normAutofit/>
          </a:bodyPr>
          <a:lstStyle/>
          <a:p>
            <a:pPr marL="0" indent="0" algn="l">
              <a:lnSpc>
                <a:spcPct val="121000"/>
              </a:lnSpc>
              <a:buNone/>
            </a:pPr>
            <a:r>
              <a:rPr lang="en-US" sz="1350" dirty="0">
                <a:solidFill>
                  <a:srgbClr val="000000"/>
                </a:solidFill>
                <a:latin typeface="Inter" pitchFamily="34" charset="0"/>
                <a:ea typeface="Inter" pitchFamily="34" charset="-122"/>
                <a:cs typeface="Inter" pitchFamily="34" charset="-120"/>
              </a:rPr>
              <a:t>Variables stay in memory until cleared with </a:t>
            </a:r>
            <a:r>
              <a:rPr lang="en-US" sz="1350" dirty="0">
                <a:solidFill>
                  <a:srgbClr val="000000"/>
                </a:solidFill>
                <a:latin typeface="Consolas" pitchFamily="34" charset="0"/>
                <a:ea typeface="Consolas" pitchFamily="34" charset="-122"/>
                <a:cs typeface="Consolas" pitchFamily="34" charset="-120"/>
              </a:rPr>
              <a:t>clear</a:t>
            </a:r>
            <a:r>
              <a:rPr lang="en-US" sz="1350" dirty="0">
                <a:solidFill>
                  <a:srgbClr val="000000"/>
                </a:solidFill>
                <a:latin typeface="Inter" pitchFamily="34" charset="0"/>
                <a:ea typeface="Inter" pitchFamily="34" charset="-122"/>
                <a:cs typeface="Inter" pitchFamily="34" charset="-120"/>
              </a:rPr>
              <a:t> or closed.</a:t>
            </a:r>
            <a:endParaRPr lang="en-US" sz="1350" dirty="0"/>
          </a:p>
        </p:txBody>
      </p:sp>
      <p:sp>
        <p:nvSpPr>
          <p:cNvPr id="19" name="Shape 16"/>
          <p:cNvSpPr/>
          <p:nvPr/>
        </p:nvSpPr>
        <p:spPr>
          <a:xfrm>
            <a:off x="0" y="6223000"/>
            <a:ext cx="12191695" cy="9525"/>
          </a:xfrm>
          <a:prstGeom prst="rect">
            <a:avLst/>
          </a:prstGeom>
          <a:solidFill>
            <a:srgbClr val="1F2937">
              <a:alpha val="20000"/>
            </a:srgbClr>
          </a:solidFill>
          <a:ln/>
        </p:spPr>
        <p:txBody>
          <a:bodyPr/>
          <a:lstStyle/>
          <a:p>
            <a:endParaRPr lang="en-US"/>
          </a:p>
        </p:txBody>
      </p:sp>
      <p:sp>
        <p:nvSpPr>
          <p:cNvPr id="20" name="Text 17"/>
          <p:cNvSpPr/>
          <p:nvPr/>
        </p:nvSpPr>
        <p:spPr>
          <a:xfrm>
            <a:off x="11945539" y="6452989"/>
            <a:ext cx="246156" cy="174923"/>
          </a:xfrm>
          <a:prstGeom prst="rect">
            <a:avLst/>
          </a:prstGeom>
          <a:noFill/>
          <a:ln/>
        </p:spPr>
        <p:txBody>
          <a:bodyPr wrap="none" lIns="0" tIns="0" rIns="0" bIns="0" rtlCol="0" anchor="ctr"/>
          <a:lstStyle/>
          <a:p>
            <a:pPr marL="0" indent="0" algn="l">
              <a:lnSpc>
                <a:spcPct val="121000"/>
              </a:lnSpc>
              <a:buNone/>
            </a:pPr>
            <a:r>
              <a:rPr lang="en-US" sz="950" dirty="0">
                <a:solidFill>
                  <a:srgbClr val="1F2937"/>
                </a:solidFill>
                <a:latin typeface="Inter" pitchFamily="34" charset="0"/>
                <a:ea typeface="Inter" pitchFamily="34" charset="-122"/>
                <a:cs typeface="Inter" pitchFamily="34" charset="-120"/>
              </a:rPr>
              <a:t>2</a:t>
            </a:r>
            <a:endParaRPr lang="en-US" sz="950" dirty="0"/>
          </a:p>
        </p:txBody>
      </p:sp>
      <p:sp>
        <p:nvSpPr>
          <p:cNvPr id="21" name="Shape 18"/>
          <p:cNvSpPr/>
          <p:nvPr/>
        </p:nvSpPr>
        <p:spPr>
          <a:xfrm>
            <a:off x="3757816" y="2931120"/>
            <a:ext cx="12700" cy="810518"/>
          </a:xfrm>
          <a:prstGeom prst="rect">
            <a:avLst/>
          </a:prstGeom>
          <a:solidFill>
            <a:srgbClr val="0B2D5C"/>
          </a:solidFill>
          <a:ln/>
        </p:spPr>
        <p:txBody>
          <a:bodyPr/>
          <a:lstStyle/>
          <a:p>
            <a:endParaRPr lang="en-US"/>
          </a:p>
        </p:txBody>
      </p:sp>
      <p:sp>
        <p:nvSpPr>
          <p:cNvPr id="22" name="Shape 19"/>
          <p:cNvSpPr/>
          <p:nvPr/>
        </p:nvSpPr>
        <p:spPr>
          <a:xfrm>
            <a:off x="609585" y="3735288"/>
            <a:ext cx="3154581" cy="12700"/>
          </a:xfrm>
          <a:prstGeom prst="rect">
            <a:avLst/>
          </a:prstGeom>
          <a:solidFill>
            <a:srgbClr val="0B2D5C"/>
          </a:solidFill>
          <a:ln/>
        </p:spPr>
        <p:txBody>
          <a:bodyPr/>
          <a:lstStyle/>
          <a:p>
            <a:endParaRPr lang="en-US"/>
          </a:p>
        </p:txBody>
      </p:sp>
      <p:sp>
        <p:nvSpPr>
          <p:cNvPr id="23" name="Shape 20"/>
          <p:cNvSpPr/>
          <p:nvPr/>
        </p:nvSpPr>
        <p:spPr>
          <a:xfrm>
            <a:off x="3757816" y="3741638"/>
            <a:ext cx="12700" cy="810518"/>
          </a:xfrm>
          <a:prstGeom prst="rect">
            <a:avLst/>
          </a:prstGeom>
          <a:solidFill>
            <a:srgbClr val="0B2D5C"/>
          </a:solidFill>
          <a:ln/>
        </p:spPr>
        <p:txBody>
          <a:bodyPr/>
          <a:lstStyle/>
          <a:p>
            <a:endParaRPr lang="en-US"/>
          </a:p>
        </p:txBody>
      </p:sp>
      <p:sp>
        <p:nvSpPr>
          <p:cNvPr id="24" name="Shape 21"/>
          <p:cNvSpPr/>
          <p:nvPr/>
        </p:nvSpPr>
        <p:spPr>
          <a:xfrm>
            <a:off x="3764166" y="3735288"/>
            <a:ext cx="3154680" cy="12700"/>
          </a:xfrm>
          <a:prstGeom prst="rect">
            <a:avLst/>
          </a:prstGeom>
          <a:solidFill>
            <a:srgbClr val="0B2D5C"/>
          </a:solidFill>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10117"/>
            <a:ext cx="11582110" cy="150217"/>
          </a:xfrm>
          <a:prstGeom prst="rect">
            <a:avLst/>
          </a:prstGeom>
          <a:noFill/>
          <a:ln/>
        </p:spPr>
        <p:txBody>
          <a:bodyPr wrap="none" lIns="0" tIns="0" rIns="0" bIns="0" rtlCol="0" anchor="t"/>
          <a:lstStyle/>
          <a:p>
            <a:pPr marL="0" indent="0" algn="l">
              <a:lnSpc>
                <a:spcPct val="112000"/>
              </a:lnSpc>
              <a:buNone/>
            </a:pPr>
            <a:r>
              <a:rPr lang="en-US" sz="900" kern="100" spc="4" dirty="0">
                <a:solidFill>
                  <a:srgbClr val="5B6B7A"/>
                </a:solidFill>
                <a:latin typeface="Inter Medium" pitchFamily="34" charset="0"/>
                <a:ea typeface="Inter Medium" pitchFamily="34" charset="-122"/>
                <a:cs typeface="Inter Medium" pitchFamily="34" charset="-120"/>
              </a:rPr>
              <a:t>CORE LINEAR ALGEBRA</a:t>
            </a:r>
            <a:endParaRPr lang="en-US" sz="900" dirty="0"/>
          </a:p>
        </p:txBody>
      </p:sp>
      <p:sp>
        <p:nvSpPr>
          <p:cNvPr id="3" name="Text 1"/>
          <p:cNvSpPr/>
          <p:nvPr/>
        </p:nvSpPr>
        <p:spPr>
          <a:xfrm>
            <a:off x="609585" y="942770"/>
            <a:ext cx="10972526" cy="362049"/>
          </a:xfrm>
          <a:prstGeom prst="rect">
            <a:avLst/>
          </a:prstGeom>
          <a:noFill/>
          <a:ln/>
        </p:spPr>
        <p:txBody>
          <a:bodyPr wrap="none" lIns="0" tIns="0" rIns="0" bIns="0" rtlCol="0" anchor="t"/>
          <a:lstStyle/>
          <a:p>
            <a:pPr marL="0" indent="0" algn="l">
              <a:lnSpc>
                <a:spcPct val="92000"/>
              </a:lnSpc>
              <a:buNone/>
            </a:pPr>
            <a:r>
              <a:rPr lang="en-US" sz="2600" kern="100" spc="-13" dirty="0">
                <a:solidFill>
                  <a:srgbClr val="0B2D5C"/>
                </a:solidFill>
                <a:latin typeface="Inter ExtraBold" pitchFamily="34" charset="0"/>
                <a:ea typeface="Inter ExtraBold" pitchFamily="34" charset="-122"/>
                <a:cs typeface="Inter ExtraBold" pitchFamily="34" charset="-120"/>
              </a:rPr>
              <a:t>MATLAB Makes Matrix Mathematics Readable</a:t>
            </a:r>
            <a:endParaRPr lang="en-US" sz="2600" dirty="0"/>
          </a:p>
        </p:txBody>
      </p:sp>
      <p:sp>
        <p:nvSpPr>
          <p:cNvPr id="4" name="Text 2"/>
          <p:cNvSpPr/>
          <p:nvPr/>
        </p:nvSpPr>
        <p:spPr>
          <a:xfrm>
            <a:off x="609585" y="1393464"/>
            <a:ext cx="11582110" cy="185539"/>
          </a:xfrm>
          <a:prstGeom prst="rect">
            <a:avLst/>
          </a:prstGeom>
          <a:noFill/>
          <a:ln/>
        </p:spPr>
        <p:txBody>
          <a:bodyPr wrap="none" lIns="0" tIns="0" rIns="0" bIns="0" rtlCol="0" anchor="t"/>
          <a:lstStyle/>
          <a:p>
            <a:pPr marL="0" indent="0" algn="l">
              <a:lnSpc>
                <a:spcPct val="106000"/>
              </a:lnSpc>
              <a:buNone/>
            </a:pPr>
            <a:r>
              <a:rPr lang="en-US" sz="1150" dirty="0">
                <a:solidFill>
                  <a:srgbClr val="1F2937"/>
                </a:solidFill>
                <a:latin typeface="Inter" pitchFamily="34" charset="0"/>
                <a:ea typeface="Inter" pitchFamily="34" charset="-122"/>
                <a:cs typeface="Inter" pitchFamily="34" charset="-120"/>
              </a:rPr>
              <a:t>MATLAB treats variables natively as arrays or matrices, without explicit dimension declarations or nested pointer loops.</a:t>
            </a:r>
            <a:endParaRPr lang="en-US" sz="1150" dirty="0"/>
          </a:p>
        </p:txBody>
      </p:sp>
      <p:sp>
        <p:nvSpPr>
          <p:cNvPr id="5" name="Shape 3"/>
          <p:cNvSpPr/>
          <p:nvPr/>
        </p:nvSpPr>
        <p:spPr>
          <a:xfrm>
            <a:off x="0" y="3263900"/>
            <a:ext cx="5943451" cy="2959100"/>
          </a:xfrm>
          <a:prstGeom prst="rect">
            <a:avLst/>
          </a:prstGeom>
          <a:noFill/>
          <a:ln w="19050">
            <a:solidFill>
              <a:srgbClr val="3463B4"/>
            </a:solidFill>
            <a:prstDash val="solid"/>
          </a:ln>
        </p:spPr>
        <p:txBody>
          <a:bodyPr/>
          <a:lstStyle/>
          <a:p>
            <a:endParaRPr lang="en-US"/>
          </a:p>
        </p:txBody>
      </p:sp>
      <p:sp>
        <p:nvSpPr>
          <p:cNvPr id="6" name="Text 4"/>
          <p:cNvSpPr/>
          <p:nvPr/>
        </p:nvSpPr>
        <p:spPr>
          <a:xfrm>
            <a:off x="222244" y="3435867"/>
            <a:ext cx="5721207" cy="150217"/>
          </a:xfrm>
          <a:prstGeom prst="rect">
            <a:avLst/>
          </a:prstGeom>
          <a:noFill/>
          <a:ln/>
        </p:spPr>
        <p:txBody>
          <a:bodyPr wrap="none" lIns="0" tIns="0" rIns="0" bIns="0" rtlCol="0" anchor="t"/>
          <a:lstStyle/>
          <a:p>
            <a:pPr marL="0" indent="0" algn="l">
              <a:lnSpc>
                <a:spcPct val="112000"/>
              </a:lnSpc>
              <a:buNone/>
            </a:pPr>
            <a:r>
              <a:rPr lang="en-US" sz="900" kern="100" spc="4" dirty="0">
                <a:solidFill>
                  <a:srgbClr val="5B6B7A"/>
                </a:solidFill>
                <a:latin typeface="Inter Medium" pitchFamily="34" charset="0"/>
                <a:ea typeface="Inter Medium" pitchFamily="34" charset="-122"/>
                <a:cs typeface="Inter Medium" pitchFamily="34" charset="-120"/>
              </a:rPr>
              <a:t>COMMAND WINDOW CODE</a:t>
            </a:r>
            <a:endParaRPr lang="en-US" sz="900" dirty="0"/>
          </a:p>
        </p:txBody>
      </p:sp>
      <p:sp>
        <p:nvSpPr>
          <p:cNvPr id="7" name="Text 5"/>
          <p:cNvSpPr/>
          <p:nvPr/>
        </p:nvSpPr>
        <p:spPr>
          <a:xfrm>
            <a:off x="222244" y="3680059"/>
            <a:ext cx="5498962" cy="575667"/>
          </a:xfrm>
          <a:prstGeom prst="rect">
            <a:avLst/>
          </a:prstGeom>
          <a:noFill/>
          <a:ln/>
        </p:spPr>
        <p:txBody>
          <a:bodyPr wrap="square" lIns="0" tIns="0" rIns="0" bIns="0" rtlCol="0" anchor="t">
            <a:normAutofit/>
          </a:bodyPr>
          <a:lstStyle/>
          <a:p>
            <a:pPr marL="0" indent="0" algn="l">
              <a:lnSpc>
                <a:spcPct val="106000"/>
              </a:lnSpc>
              <a:buNone/>
            </a:pPr>
            <a:r>
              <a:rPr lang="en-US" sz="1150" dirty="0">
                <a:solidFill>
                  <a:srgbClr val="1F2937"/>
                </a:solidFill>
                <a:latin typeface="Consolas" pitchFamily="34" charset="0"/>
                <a:ea typeface="Consolas" pitchFamily="34" charset="-122"/>
                <a:cs typeface="Consolas" pitchFamily="34" charset="-120"/>
              </a:rPr>
              <a:t>A = [1 2; 3 4];</a:t>
            </a:r>
            <a:endParaRPr lang="en-US" sz="1150" dirty="0"/>
          </a:p>
          <a:p>
            <a:pPr marL="0" indent="0" algn="l">
              <a:lnSpc>
                <a:spcPct val="106000"/>
              </a:lnSpc>
              <a:buNone/>
            </a:pPr>
            <a:r>
              <a:rPr lang="en-US" sz="1150" dirty="0">
                <a:solidFill>
                  <a:srgbClr val="1F2937"/>
                </a:solidFill>
                <a:latin typeface="Consolas" pitchFamily="34" charset="0"/>
                <a:ea typeface="Consolas" pitchFamily="34" charset="-122"/>
                <a:cs typeface="Consolas" pitchFamily="34" charset="-120"/>
              </a:rPr>
              <a:t>B = [5 6; 7 8];</a:t>
            </a:r>
            <a:endParaRPr lang="en-US" sz="1150" dirty="0"/>
          </a:p>
          <a:p>
            <a:pPr marL="0" indent="0" algn="l">
              <a:lnSpc>
                <a:spcPct val="106000"/>
              </a:lnSpc>
              <a:buNone/>
            </a:pPr>
            <a:r>
              <a:rPr lang="en-US" sz="1150" dirty="0">
                <a:solidFill>
                  <a:srgbClr val="1F2937"/>
                </a:solidFill>
                <a:latin typeface="Consolas" pitchFamily="34" charset="0"/>
                <a:ea typeface="Consolas" pitchFamily="34" charset="-122"/>
                <a:cs typeface="Consolas" pitchFamily="34" charset="-120"/>
              </a:rPr>
              <a:t>C = A * B</a:t>
            </a:r>
            <a:endParaRPr lang="en-US" sz="1150" dirty="0"/>
          </a:p>
        </p:txBody>
      </p:sp>
      <p:sp>
        <p:nvSpPr>
          <p:cNvPr id="8" name="Text 6"/>
          <p:cNvSpPr/>
          <p:nvPr/>
        </p:nvSpPr>
        <p:spPr>
          <a:xfrm>
            <a:off x="222244" y="4338758"/>
            <a:ext cx="5721207" cy="150217"/>
          </a:xfrm>
          <a:prstGeom prst="rect">
            <a:avLst/>
          </a:prstGeom>
          <a:noFill/>
          <a:ln/>
        </p:spPr>
        <p:txBody>
          <a:bodyPr wrap="none" lIns="0" tIns="0" rIns="0" bIns="0" rtlCol="0" anchor="t"/>
          <a:lstStyle/>
          <a:p>
            <a:pPr marL="0" indent="0" algn="l">
              <a:lnSpc>
                <a:spcPct val="112000"/>
              </a:lnSpc>
              <a:buNone/>
            </a:pPr>
            <a:r>
              <a:rPr lang="en-US" sz="900" kern="100" spc="4" dirty="0">
                <a:solidFill>
                  <a:srgbClr val="5B6B7A"/>
                </a:solidFill>
                <a:latin typeface="Inter Medium" pitchFamily="34" charset="0"/>
                <a:ea typeface="Inter Medium" pitchFamily="34" charset="-122"/>
                <a:cs typeface="Inter Medium" pitchFamily="34" charset="-120"/>
              </a:rPr>
              <a:t>EVALUATED OUTPUT</a:t>
            </a:r>
            <a:endParaRPr lang="en-US" sz="900" dirty="0"/>
          </a:p>
        </p:txBody>
      </p:sp>
      <p:sp>
        <p:nvSpPr>
          <p:cNvPr id="9" name="Text 7"/>
          <p:cNvSpPr/>
          <p:nvPr/>
        </p:nvSpPr>
        <p:spPr>
          <a:xfrm>
            <a:off x="222244" y="4582950"/>
            <a:ext cx="5498962" cy="575667"/>
          </a:xfrm>
          <a:prstGeom prst="rect">
            <a:avLst/>
          </a:prstGeom>
          <a:noFill/>
          <a:ln/>
        </p:spPr>
        <p:txBody>
          <a:bodyPr wrap="square" lIns="0" tIns="0" rIns="0" bIns="0" rtlCol="0" anchor="t">
            <a:normAutofit/>
          </a:bodyPr>
          <a:lstStyle/>
          <a:p>
            <a:pPr marL="0" indent="0" algn="l">
              <a:lnSpc>
                <a:spcPct val="106000"/>
              </a:lnSpc>
              <a:buNone/>
            </a:pPr>
            <a:r>
              <a:rPr lang="en-US" sz="1150" dirty="0">
                <a:solidFill>
                  <a:srgbClr val="1F2937"/>
                </a:solidFill>
                <a:latin typeface="Consolas" pitchFamily="34" charset="0"/>
                <a:ea typeface="Consolas" pitchFamily="34" charset="-122"/>
                <a:cs typeface="Consolas" pitchFamily="34" charset="-120"/>
              </a:rPr>
              <a:t>C =</a:t>
            </a:r>
            <a:endParaRPr lang="en-US" sz="1150" dirty="0"/>
          </a:p>
          <a:p>
            <a:pPr marL="0" indent="0" algn="l">
              <a:lnSpc>
                <a:spcPct val="106000"/>
              </a:lnSpc>
              <a:buNone/>
            </a:pPr>
            <a:r>
              <a:rPr lang="en-US" sz="1150" dirty="0">
                <a:solidFill>
                  <a:srgbClr val="1F2937"/>
                </a:solidFill>
                <a:latin typeface="Consolas" pitchFamily="34" charset="0"/>
                <a:ea typeface="Consolas" pitchFamily="34" charset="-122"/>
                <a:cs typeface="Consolas" pitchFamily="34" charset="-120"/>
              </a:rPr>
              <a:t>    19    22</a:t>
            </a:r>
            <a:endParaRPr lang="en-US" sz="1150" dirty="0"/>
          </a:p>
          <a:p>
            <a:pPr marL="0" indent="0" algn="l">
              <a:lnSpc>
                <a:spcPct val="106000"/>
              </a:lnSpc>
              <a:buNone/>
            </a:pPr>
            <a:r>
              <a:rPr lang="en-US" sz="1150" dirty="0">
                <a:solidFill>
                  <a:srgbClr val="1F2937"/>
                </a:solidFill>
                <a:latin typeface="Consolas" pitchFamily="34" charset="0"/>
                <a:ea typeface="Consolas" pitchFamily="34" charset="-122"/>
                <a:cs typeface="Consolas" pitchFamily="34" charset="-120"/>
              </a:rPr>
              <a:t>    43    50</a:t>
            </a:r>
            <a:endParaRPr lang="en-US" sz="1150" dirty="0"/>
          </a:p>
        </p:txBody>
      </p:sp>
      <p:sp>
        <p:nvSpPr>
          <p:cNvPr id="10" name="Shape 8"/>
          <p:cNvSpPr/>
          <p:nvPr/>
        </p:nvSpPr>
        <p:spPr>
          <a:xfrm>
            <a:off x="6248244" y="3263900"/>
            <a:ext cx="5943451" cy="2959100"/>
          </a:xfrm>
          <a:prstGeom prst="rect">
            <a:avLst/>
          </a:prstGeom>
          <a:noFill/>
          <a:ln w="19050">
            <a:solidFill>
              <a:srgbClr val="3463B4"/>
            </a:solidFill>
            <a:prstDash val="solid"/>
          </a:ln>
        </p:spPr>
        <p:txBody>
          <a:bodyPr/>
          <a:lstStyle/>
          <a:p>
            <a:endParaRPr lang="en-US"/>
          </a:p>
        </p:txBody>
      </p:sp>
      <p:sp>
        <p:nvSpPr>
          <p:cNvPr id="11" name="Text 9"/>
          <p:cNvSpPr/>
          <p:nvPr/>
        </p:nvSpPr>
        <p:spPr>
          <a:xfrm>
            <a:off x="6495887" y="3461267"/>
            <a:ext cx="5695808" cy="150217"/>
          </a:xfrm>
          <a:prstGeom prst="rect">
            <a:avLst/>
          </a:prstGeom>
          <a:noFill/>
          <a:ln/>
        </p:spPr>
        <p:txBody>
          <a:bodyPr wrap="none" lIns="0" tIns="0" rIns="0" bIns="0" rtlCol="0" anchor="t"/>
          <a:lstStyle/>
          <a:p>
            <a:pPr marL="0" indent="0" algn="l">
              <a:lnSpc>
                <a:spcPct val="112000"/>
              </a:lnSpc>
              <a:buNone/>
            </a:pPr>
            <a:r>
              <a:rPr lang="en-US" sz="900" kern="100" spc="4" dirty="0">
                <a:solidFill>
                  <a:srgbClr val="5B6B7A"/>
                </a:solidFill>
                <a:latin typeface="Inter Medium" pitchFamily="34" charset="0"/>
                <a:ea typeface="Inter Medium" pitchFamily="34" charset="-122"/>
                <a:cs typeface="Inter Medium" pitchFamily="34" charset="-120"/>
              </a:rPr>
              <a:t>INNER PRODUCT EXPANSION</a:t>
            </a:r>
            <a:endParaRPr lang="en-US" sz="900" dirty="0"/>
          </a:p>
        </p:txBody>
      </p:sp>
      <p:pic>
        <p:nvPicPr>
          <p:cNvPr id="12" name="Image 0" descr="preencoded.png"/>
          <p:cNvPicPr>
            <a:picLocks noChangeAspect="1"/>
          </p:cNvPicPr>
          <p:nvPr/>
        </p:nvPicPr>
        <p:blipFill>
          <a:blip r:embed="rId3"/>
          <a:stretch>
            <a:fillRect/>
          </a:stretch>
        </p:blipFill>
        <p:spPr>
          <a:xfrm>
            <a:off x="6495887" y="3699470"/>
            <a:ext cx="5448164" cy="474464"/>
          </a:xfrm>
          <a:prstGeom prst="rect">
            <a:avLst/>
          </a:prstGeom>
        </p:spPr>
      </p:pic>
      <p:sp>
        <p:nvSpPr>
          <p:cNvPr id="13" name="Text 10"/>
          <p:cNvSpPr/>
          <p:nvPr/>
        </p:nvSpPr>
        <p:spPr>
          <a:xfrm>
            <a:off x="6495887" y="4262438"/>
            <a:ext cx="5448164" cy="2045097"/>
          </a:xfrm>
          <a:prstGeom prst="rect">
            <a:avLst/>
          </a:prstGeom>
          <a:noFill/>
          <a:ln/>
        </p:spPr>
        <p:txBody>
          <a:bodyPr wrap="square" lIns="0" tIns="0" rIns="0" bIns="0" rtlCol="0" anchor="t">
            <a:normAutofit/>
          </a:bodyPr>
          <a:lstStyle/>
          <a:p>
            <a:pPr marL="0" indent="0" algn="l">
              <a:lnSpc>
                <a:spcPct val="106000"/>
              </a:lnSpc>
              <a:spcAft>
                <a:spcPts val="650"/>
              </a:spcAft>
              <a:buNone/>
            </a:pPr>
            <a:r>
              <a:rPr lang="en-US" sz="1150" b="1" dirty="0">
                <a:solidFill>
                  <a:srgbClr val="1F2937"/>
                </a:solidFill>
                <a:latin typeface="Inter Bold" pitchFamily="34" charset="0"/>
                <a:ea typeface="Inter Bold" pitchFamily="34" charset="-122"/>
                <a:cs typeface="Inter Bold" pitchFamily="34" charset="-120"/>
              </a:rPr>
              <a:t>Operator syntax:</a:t>
            </a:r>
            <a:r>
              <a:rPr lang="en-US" sz="1150" dirty="0">
                <a:solidFill>
                  <a:srgbClr val="1F2937"/>
                </a:solidFill>
                <a:latin typeface="Inter" pitchFamily="34" charset="0"/>
                <a:ea typeface="Inter" pitchFamily="34" charset="-122"/>
                <a:cs typeface="Inter" pitchFamily="34" charset="-120"/>
              </a:rPr>
              <a:t> </a:t>
            </a:r>
            <a:r>
              <a:rPr lang="en-US" sz="1150" dirty="0">
                <a:solidFill>
                  <a:srgbClr val="1F2937"/>
                </a:solidFill>
                <a:latin typeface="Consolas" pitchFamily="34" charset="0"/>
                <a:ea typeface="Consolas" pitchFamily="34" charset="-122"/>
                <a:cs typeface="Consolas" pitchFamily="34" charset="-120"/>
              </a:rPr>
              <a:t>*</a:t>
            </a:r>
            <a:r>
              <a:rPr lang="en-US" sz="1150" dirty="0">
                <a:solidFill>
                  <a:srgbClr val="1F2937"/>
                </a:solidFill>
                <a:latin typeface="Inter" pitchFamily="34" charset="0"/>
                <a:ea typeface="Inter" pitchFamily="34" charset="-122"/>
                <a:cs typeface="Inter" pitchFamily="34" charset="-120"/>
              </a:rPr>
              <a:t> performs </a:t>
            </a:r>
            <a:r>
              <a:rPr lang="en-US" sz="1150" b="1" dirty="0">
                <a:solidFill>
                  <a:srgbClr val="1F2937"/>
                </a:solidFill>
                <a:latin typeface="Inter Bold" pitchFamily="34" charset="0"/>
                <a:ea typeface="Inter Bold" pitchFamily="34" charset="-122"/>
                <a:cs typeface="Inter Bold" pitchFamily="34" charset="-120"/>
              </a:rPr>
              <a:t>matrix multiplication</a:t>
            </a:r>
            <a:r>
              <a:rPr lang="en-US" sz="1150" dirty="0">
                <a:solidFill>
                  <a:srgbClr val="1F2937"/>
                </a:solidFill>
                <a:latin typeface="Inter" pitchFamily="34" charset="0"/>
                <a:ea typeface="Inter" pitchFamily="34" charset="-122"/>
                <a:cs typeface="Inter" pitchFamily="34" charset="-120"/>
              </a:rPr>
              <a:t> (inner dimension match); use </a:t>
            </a:r>
            <a:r>
              <a:rPr lang="en-US" sz="1150" dirty="0">
                <a:solidFill>
                  <a:srgbClr val="1F2937"/>
                </a:solidFill>
                <a:latin typeface="Consolas" pitchFamily="34" charset="0"/>
                <a:ea typeface="Consolas" pitchFamily="34" charset="-122"/>
                <a:cs typeface="Consolas" pitchFamily="34" charset="-120"/>
              </a:rPr>
              <a:t>.*</a:t>
            </a:r>
            <a:r>
              <a:rPr lang="en-US" sz="1150" dirty="0">
                <a:solidFill>
                  <a:srgbClr val="1F2937"/>
                </a:solidFill>
                <a:latin typeface="Inter" pitchFamily="34" charset="0"/>
                <a:ea typeface="Inter" pitchFamily="34" charset="-122"/>
                <a:cs typeface="Inter" pitchFamily="34" charset="-120"/>
              </a:rPr>
              <a:t> for element-by-element array multiplication.</a:t>
            </a:r>
            <a:endParaRPr lang="en-US" sz="1150" dirty="0"/>
          </a:p>
          <a:p>
            <a:pPr marL="0" indent="0" algn="l">
              <a:lnSpc>
                <a:spcPct val="106000"/>
              </a:lnSpc>
              <a:spcAft>
                <a:spcPts val="650"/>
              </a:spcAft>
              <a:buNone/>
            </a:pPr>
            <a:r>
              <a:rPr lang="en-US" sz="1150" dirty="0">
                <a:solidFill>
                  <a:srgbClr val="1F2937"/>
                </a:solidFill>
                <a:latin typeface="Inter" pitchFamily="34" charset="0"/>
                <a:ea typeface="Inter" pitchFamily="34" charset="-122"/>
                <a:cs typeface="Inter" pitchFamily="34" charset="-120"/>
              </a:rPr>
              <a:t>Vectors, matrices, and multidimensional arrays are core structures. Semicolons separate rows; spaces separate columns; indexing starts at 1. Matrix operations support modeling, linear algebra, and numerical equation solving; fundamentals include variables, conditions, loops, and functions.</a:t>
            </a:r>
            <a:endParaRPr lang="en-US" sz="1150" dirty="0"/>
          </a:p>
          <a:p>
            <a:pPr marL="0" indent="0" algn="l">
              <a:lnSpc>
                <a:spcPct val="106000"/>
              </a:lnSpc>
              <a:buNone/>
            </a:pPr>
            <a:r>
              <a:rPr lang="en-US" sz="1150" dirty="0">
                <a:solidFill>
                  <a:srgbClr val="1F2937"/>
                </a:solidFill>
                <a:latin typeface="Inter" pitchFamily="34" charset="0"/>
                <a:ea typeface="Inter" pitchFamily="34" charset="-122"/>
                <a:cs typeface="Inter" pitchFamily="34" charset="-120"/>
              </a:rPr>
              <a:t>Whole-array operations use optimized BLAS libraries instead of slow manual nested loops. Automation turns repetitive calculations into reusable scripts; parameterized functions can use inputs, local scope, and formatted output arguments.</a:t>
            </a:r>
            <a:endParaRPr lang="en-US" sz="1150" dirty="0"/>
          </a:p>
        </p:txBody>
      </p:sp>
      <p:sp>
        <p:nvSpPr>
          <p:cNvPr id="14" name="Shape 11"/>
          <p:cNvSpPr/>
          <p:nvPr/>
        </p:nvSpPr>
        <p:spPr>
          <a:xfrm>
            <a:off x="0" y="6223000"/>
            <a:ext cx="12191695" cy="9525"/>
          </a:xfrm>
          <a:prstGeom prst="rect">
            <a:avLst/>
          </a:prstGeom>
          <a:solidFill>
            <a:srgbClr val="1F2937">
              <a:alpha val="20000"/>
            </a:srgbClr>
          </a:solidFill>
          <a:ln/>
        </p:spPr>
        <p:txBody>
          <a:bodyPr/>
          <a:lstStyle/>
          <a:p>
            <a:endParaRPr lang="en-US"/>
          </a:p>
        </p:txBody>
      </p:sp>
      <p:sp>
        <p:nvSpPr>
          <p:cNvPr id="15" name="Text 12"/>
          <p:cNvSpPr/>
          <p:nvPr/>
        </p:nvSpPr>
        <p:spPr>
          <a:xfrm>
            <a:off x="11944547" y="6452989"/>
            <a:ext cx="247148" cy="174923"/>
          </a:xfrm>
          <a:prstGeom prst="rect">
            <a:avLst/>
          </a:prstGeom>
          <a:noFill/>
          <a:ln/>
        </p:spPr>
        <p:txBody>
          <a:bodyPr wrap="none" lIns="0" tIns="0" rIns="0" bIns="0" rtlCol="0" anchor="ctr"/>
          <a:lstStyle/>
          <a:p>
            <a:pPr marL="0" indent="0" algn="l">
              <a:lnSpc>
                <a:spcPct val="121000"/>
              </a:lnSpc>
              <a:buNone/>
            </a:pPr>
            <a:r>
              <a:rPr lang="en-US" sz="950" dirty="0">
                <a:solidFill>
                  <a:srgbClr val="1F2937"/>
                </a:solidFill>
                <a:latin typeface="Inter" pitchFamily="34" charset="0"/>
                <a:ea typeface="Inter" pitchFamily="34" charset="-122"/>
                <a:cs typeface="Inter"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31570"/>
            <a:ext cx="10972526" cy="469503"/>
          </a:xfrm>
          <a:prstGeom prst="rect">
            <a:avLst/>
          </a:prstGeom>
          <a:noFill/>
          <a:ln/>
        </p:spPr>
        <p:txBody>
          <a:bodyPr wrap="none" lIns="0" tIns="0" rIns="0" bIns="0" rtlCol="0" anchor="t"/>
          <a:lstStyle/>
          <a:p>
            <a:pPr marL="0" indent="0" algn="l">
              <a:lnSpc>
                <a:spcPct val="92000"/>
              </a:lnSpc>
              <a:buNone/>
            </a:pPr>
            <a:r>
              <a:rPr lang="en-US" sz="3350" kern="100" spc="-17" dirty="0">
                <a:solidFill>
                  <a:srgbClr val="0B2D5C"/>
                </a:solidFill>
                <a:latin typeface="Inter ExtraBold" pitchFamily="34" charset="0"/>
                <a:ea typeface="Inter ExtraBold" pitchFamily="34" charset="-122"/>
                <a:cs typeface="Inter ExtraBold" pitchFamily="34" charset="-120"/>
              </a:rPr>
              <a:t>From Raw Data to a Clear Scientific Story</a:t>
            </a:r>
            <a:endParaRPr lang="en-US" sz="3350" dirty="0"/>
          </a:p>
        </p:txBody>
      </p:sp>
      <p:sp>
        <p:nvSpPr>
          <p:cNvPr id="3" name="Shape 1"/>
          <p:cNvSpPr/>
          <p:nvPr/>
        </p:nvSpPr>
        <p:spPr>
          <a:xfrm>
            <a:off x="609585" y="1243509"/>
            <a:ext cx="4206075" cy="3251795"/>
          </a:xfrm>
          <a:prstGeom prst="rect">
            <a:avLst/>
          </a:prstGeom>
          <a:solidFill>
            <a:srgbClr val="EAF4FB"/>
          </a:solidFill>
          <a:ln w="19050">
            <a:solidFill>
              <a:srgbClr val="0B2D5C"/>
            </a:solidFill>
            <a:prstDash val="solid"/>
          </a:ln>
        </p:spPr>
        <p:txBody>
          <a:bodyPr/>
          <a:lstStyle/>
          <a:p>
            <a:endParaRPr lang="en-US"/>
          </a:p>
        </p:txBody>
      </p:sp>
      <p:sp>
        <p:nvSpPr>
          <p:cNvPr id="4" name="Shape 2"/>
          <p:cNvSpPr/>
          <p:nvPr/>
        </p:nvSpPr>
        <p:spPr>
          <a:xfrm>
            <a:off x="781030" y="1626791"/>
            <a:ext cx="3863184" cy="2485231"/>
          </a:xfrm>
          <a:prstGeom prst="roundRect">
            <a:avLst>
              <a:gd name="adj" fmla="val 460"/>
            </a:avLst>
          </a:prstGeom>
          <a:solidFill>
            <a:srgbClr val="EAF4FB"/>
          </a:solidFill>
          <a:ln/>
        </p:spPr>
        <p:txBody>
          <a:bodyPr/>
          <a:lstStyle/>
          <a:p>
            <a:endParaRPr lang="en-US"/>
          </a:p>
        </p:txBody>
      </p:sp>
      <p:sp>
        <p:nvSpPr>
          <p:cNvPr id="5" name="Text 3"/>
          <p:cNvSpPr/>
          <p:nvPr/>
        </p:nvSpPr>
        <p:spPr>
          <a:xfrm>
            <a:off x="1006946" y="1815108"/>
            <a:ext cx="3411353" cy="2108597"/>
          </a:xfrm>
          <a:prstGeom prst="rect">
            <a:avLst/>
          </a:prstGeom>
          <a:noFill/>
          <a:ln/>
        </p:spPr>
        <p:txBody>
          <a:bodyPr wrap="square" lIns="0" tIns="0" rIns="0" bIns="0" rtlCol="0" anchor="t">
            <a:normAutofit/>
          </a:bodyPr>
          <a:lstStyle/>
          <a:p>
            <a:pPr marL="0" indent="0" algn="l">
              <a:lnSpc>
                <a:spcPct val="133000"/>
              </a:lnSpc>
              <a:buNone/>
            </a:pPr>
            <a:r>
              <a:rPr lang="en-US" sz="1500" dirty="0">
                <a:solidFill>
                  <a:srgbClr val="24292E"/>
                </a:solidFill>
                <a:latin typeface="Consolas" pitchFamily="34" charset="0"/>
                <a:ea typeface="Consolas" pitchFamily="34" charset="-122"/>
                <a:cs typeface="Consolas" pitchFamily="34" charset="-120"/>
              </a:rPr>
              <a:t>x = 0:0.1:10;</a:t>
            </a:r>
            <a:endParaRPr lang="en-US" sz="1500" dirty="0"/>
          </a:p>
          <a:p>
            <a:pPr marL="0" indent="0" algn="l">
              <a:lnSpc>
                <a:spcPct val="133000"/>
              </a:lnSpc>
              <a:buNone/>
            </a:pPr>
            <a:r>
              <a:rPr lang="en-US" sz="1500" dirty="0">
                <a:solidFill>
                  <a:srgbClr val="24292E"/>
                </a:solidFill>
                <a:latin typeface="Consolas" pitchFamily="34" charset="0"/>
                <a:ea typeface="Consolas" pitchFamily="34" charset="-122"/>
                <a:cs typeface="Consolas" pitchFamily="34" charset="-120"/>
              </a:rPr>
              <a:t>y = sin(x);</a:t>
            </a:r>
            <a:endParaRPr lang="en-US" sz="1500" dirty="0"/>
          </a:p>
          <a:p>
            <a:pPr marL="0" indent="0" algn="l">
              <a:lnSpc>
                <a:spcPct val="133000"/>
              </a:lnSpc>
              <a:buNone/>
            </a:pPr>
            <a:r>
              <a:rPr lang="en-US" sz="1500" dirty="0">
                <a:solidFill>
                  <a:srgbClr val="24292E"/>
                </a:solidFill>
                <a:latin typeface="Consolas" pitchFamily="34" charset="0"/>
                <a:ea typeface="Consolas" pitchFamily="34" charset="-122"/>
                <a:cs typeface="Consolas" pitchFamily="34" charset="-120"/>
              </a:rPr>
              <a:t>plot(x, y);</a:t>
            </a:r>
            <a:endParaRPr lang="en-US" sz="1500" dirty="0"/>
          </a:p>
          <a:p>
            <a:pPr marL="0" indent="0" algn="l">
              <a:lnSpc>
                <a:spcPct val="133000"/>
              </a:lnSpc>
              <a:buNone/>
            </a:pPr>
            <a:r>
              <a:rPr lang="en-US" sz="1500" dirty="0">
                <a:solidFill>
                  <a:srgbClr val="24292E"/>
                </a:solidFill>
                <a:latin typeface="Consolas" pitchFamily="34" charset="0"/>
                <a:ea typeface="Consolas" pitchFamily="34" charset="-122"/>
                <a:cs typeface="Consolas" pitchFamily="34" charset="-120"/>
              </a:rPr>
              <a:t>xlabel('x');</a:t>
            </a:r>
            <a:endParaRPr lang="en-US" sz="1500" dirty="0"/>
          </a:p>
          <a:p>
            <a:pPr marL="0" indent="0" algn="l">
              <a:lnSpc>
                <a:spcPct val="133000"/>
              </a:lnSpc>
              <a:buNone/>
            </a:pPr>
            <a:r>
              <a:rPr lang="en-US" sz="1500" dirty="0">
                <a:solidFill>
                  <a:srgbClr val="24292E"/>
                </a:solidFill>
                <a:latin typeface="Consolas" pitchFamily="34" charset="0"/>
                <a:ea typeface="Consolas" pitchFamily="34" charset="-122"/>
                <a:cs typeface="Consolas" pitchFamily="34" charset="-120"/>
              </a:rPr>
              <a:t>ylabel('sin(x)');</a:t>
            </a:r>
            <a:endParaRPr lang="en-US" sz="1500" dirty="0"/>
          </a:p>
          <a:p>
            <a:pPr marL="0" indent="0" algn="l">
              <a:lnSpc>
                <a:spcPct val="133000"/>
              </a:lnSpc>
              <a:buNone/>
            </a:pPr>
            <a:r>
              <a:rPr lang="en-US" sz="1500" dirty="0">
                <a:solidFill>
                  <a:srgbClr val="24292E"/>
                </a:solidFill>
                <a:latin typeface="Consolas" pitchFamily="34" charset="0"/>
                <a:ea typeface="Consolas" pitchFamily="34" charset="-122"/>
                <a:cs typeface="Consolas" pitchFamily="34" charset="-120"/>
              </a:rPr>
              <a:t>title('Sine Wave');</a:t>
            </a:r>
            <a:endParaRPr lang="en-US" sz="1500" dirty="0"/>
          </a:p>
          <a:p>
            <a:pPr marL="0" indent="0" algn="l">
              <a:lnSpc>
                <a:spcPct val="133000"/>
              </a:lnSpc>
              <a:buNone/>
            </a:pPr>
            <a:r>
              <a:rPr lang="en-US" sz="1500" dirty="0">
                <a:solidFill>
                  <a:srgbClr val="24292E"/>
                </a:solidFill>
                <a:latin typeface="Consolas" pitchFamily="34" charset="0"/>
                <a:ea typeface="Consolas" pitchFamily="34" charset="-122"/>
                <a:cs typeface="Consolas" pitchFamily="34" charset="-120"/>
              </a:rPr>
              <a:t>grid on;</a:t>
            </a:r>
            <a:endParaRPr lang="en-US" sz="1500" dirty="0"/>
          </a:p>
        </p:txBody>
      </p:sp>
      <p:sp>
        <p:nvSpPr>
          <p:cNvPr id="6" name="Text 4"/>
          <p:cNvSpPr/>
          <p:nvPr/>
        </p:nvSpPr>
        <p:spPr>
          <a:xfrm>
            <a:off x="609585" y="4591447"/>
            <a:ext cx="4206075" cy="1709341"/>
          </a:xfrm>
          <a:prstGeom prst="rect">
            <a:avLst/>
          </a:prstGeom>
          <a:noFill/>
          <a:ln/>
        </p:spPr>
        <p:txBody>
          <a:bodyPr wrap="square" lIns="0" tIns="0" rIns="0" bIns="0" rtlCol="0" anchor="t">
            <a:normAutofit fontScale="92500"/>
          </a:bodyPr>
          <a:lstStyle/>
          <a:p>
            <a:pPr marL="304800" indent="-304800" algn="l">
              <a:lnSpc>
                <a:spcPct val="120000"/>
              </a:lnSpc>
              <a:buSzPct val="100000"/>
              <a:buChar char="•"/>
            </a:pPr>
            <a:r>
              <a:rPr lang="en-US" sz="1500" dirty="0">
                <a:solidFill>
                  <a:srgbClr val="1F2937"/>
                </a:solidFill>
                <a:latin typeface="Inter" pitchFamily="34" charset="0"/>
                <a:ea typeface="Inter" pitchFamily="34" charset="-122"/>
                <a:cs typeface="Inter" pitchFamily="34" charset="-120"/>
              </a:rPr>
              <a:t>Import CSV and Excel data; calculate mean, variance, correlation, and other statistics.</a:t>
            </a:r>
            <a:endParaRPr lang="en-US" sz="1500" dirty="0"/>
          </a:p>
          <a:p>
            <a:pPr marL="304800" indent="-304800" algn="l">
              <a:lnSpc>
                <a:spcPct val="120000"/>
              </a:lnSpc>
              <a:buSzPct val="100000"/>
              <a:buChar char="•"/>
            </a:pPr>
            <a:r>
              <a:rPr lang="en-US" sz="1500" dirty="0">
                <a:solidFill>
                  <a:srgbClr val="1F2937"/>
                </a:solidFill>
                <a:latin typeface="Inter" pitchFamily="34" charset="0"/>
                <a:ea typeface="Inter" pitchFamily="34" charset="-122"/>
                <a:cs typeface="Inter" pitchFamily="34" charset="-120"/>
              </a:rPr>
              <a:t>Visualize with line plots, scatter plots, bar charts, and 3-D visualizations.</a:t>
            </a:r>
            <a:endParaRPr lang="en-US" sz="1500" dirty="0"/>
          </a:p>
          <a:p>
            <a:pPr marL="304800" indent="-304800" algn="l">
              <a:lnSpc>
                <a:spcPct val="120000"/>
              </a:lnSpc>
              <a:buSzPct val="100000"/>
              <a:buChar char="•"/>
            </a:pPr>
            <a:r>
              <a:rPr lang="en-US" sz="1500" dirty="0">
                <a:solidFill>
                  <a:srgbClr val="1F2937"/>
                </a:solidFill>
                <a:latin typeface="Inter" pitchFamily="34" charset="0"/>
                <a:ea typeface="Inter" pitchFamily="34" charset="-122"/>
                <a:cs typeface="Inter" pitchFamily="34" charset="-120"/>
              </a:rPr>
              <a:t>Look for trends, patterns, and relationships before making decisions.</a:t>
            </a:r>
            <a:endParaRPr lang="en-US" sz="1500" dirty="0"/>
          </a:p>
        </p:txBody>
      </p:sp>
      <p:pic>
        <p:nvPicPr>
          <p:cNvPr id="7" name="Image 0" descr="preencoded.png"/>
          <p:cNvPicPr>
            <a:picLocks noChangeAspect="1"/>
          </p:cNvPicPr>
          <p:nvPr/>
        </p:nvPicPr>
        <p:blipFill>
          <a:blip r:embed="rId3"/>
          <a:stretch>
            <a:fillRect/>
          </a:stretch>
        </p:blipFill>
        <p:spPr>
          <a:xfrm>
            <a:off x="5272749" y="1243509"/>
            <a:ext cx="5333867" cy="2667000"/>
          </a:xfrm>
          <a:prstGeom prst="rect">
            <a:avLst/>
          </a:prstGeom>
        </p:spPr>
      </p:pic>
      <p:sp>
        <p:nvSpPr>
          <p:cNvPr id="8" name="Text 5"/>
          <p:cNvSpPr/>
          <p:nvPr/>
        </p:nvSpPr>
        <p:spPr>
          <a:xfrm>
            <a:off x="5272749" y="3982331"/>
            <a:ext cx="6309361" cy="194866"/>
          </a:xfrm>
          <a:prstGeom prst="rect">
            <a:avLst/>
          </a:prstGeom>
          <a:noFill/>
          <a:ln/>
        </p:spPr>
        <p:txBody>
          <a:bodyPr wrap="none" lIns="0" tIns="0" rIns="0" bIns="0" rtlCol="0" anchor="t"/>
          <a:lstStyle/>
          <a:p>
            <a:pPr marL="0" indent="0" algn="l">
              <a:lnSpc>
                <a:spcPct val="113000"/>
              </a:lnSpc>
              <a:buNone/>
            </a:pPr>
            <a:r>
              <a:rPr lang="en-US" sz="1150" kern="100" spc="6" dirty="0">
                <a:solidFill>
                  <a:srgbClr val="5B6B7A"/>
                </a:solidFill>
                <a:latin typeface="Inter Medium" pitchFamily="34" charset="0"/>
                <a:ea typeface="Inter Medium" pitchFamily="34" charset="-122"/>
                <a:cs typeface="Inter Medium" pitchFamily="34" charset="-120"/>
              </a:rPr>
              <a:t>Fig. 4.1 Continuous sine curve sampled across 0 to 10 radians with visible grid lines</a:t>
            </a:r>
            <a:endParaRPr lang="en-US" sz="1150" dirty="0"/>
          </a:p>
        </p:txBody>
      </p:sp>
      <p:sp>
        <p:nvSpPr>
          <p:cNvPr id="9" name="Shape 6"/>
          <p:cNvSpPr/>
          <p:nvPr/>
        </p:nvSpPr>
        <p:spPr>
          <a:xfrm>
            <a:off x="0" y="6223000"/>
            <a:ext cx="12191695" cy="9525"/>
          </a:xfrm>
          <a:prstGeom prst="rect">
            <a:avLst/>
          </a:prstGeom>
          <a:solidFill>
            <a:srgbClr val="1F2937">
              <a:alpha val="20000"/>
            </a:srgbClr>
          </a:solidFill>
          <a:ln/>
        </p:spPr>
        <p:txBody>
          <a:bodyPr/>
          <a:lstStyle/>
          <a:p>
            <a:endParaRPr lang="en-US"/>
          </a:p>
        </p:txBody>
      </p:sp>
      <p:sp>
        <p:nvSpPr>
          <p:cNvPr id="10" name="Text 7"/>
          <p:cNvSpPr/>
          <p:nvPr/>
        </p:nvSpPr>
        <p:spPr>
          <a:xfrm>
            <a:off x="11941174" y="6452989"/>
            <a:ext cx="250521" cy="174923"/>
          </a:xfrm>
          <a:prstGeom prst="rect">
            <a:avLst/>
          </a:prstGeom>
          <a:noFill/>
          <a:ln/>
        </p:spPr>
        <p:txBody>
          <a:bodyPr wrap="none" lIns="0" tIns="0" rIns="0" bIns="0" rtlCol="0" anchor="ctr"/>
          <a:lstStyle/>
          <a:p>
            <a:pPr marL="0" indent="0" algn="l">
              <a:lnSpc>
                <a:spcPct val="121000"/>
              </a:lnSpc>
              <a:buNone/>
            </a:pPr>
            <a:r>
              <a:rPr lang="en-US" sz="950" dirty="0">
                <a:solidFill>
                  <a:srgbClr val="1F2937"/>
                </a:solidFill>
                <a:latin typeface="Inter" pitchFamily="34" charset="0"/>
                <a:ea typeface="Inter" pitchFamily="34" charset="-122"/>
                <a:cs typeface="Inter"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632904"/>
            <a:ext cx="10972526" cy="474960"/>
          </a:xfrm>
          <a:prstGeom prst="rect">
            <a:avLst/>
          </a:prstGeom>
          <a:noFill/>
          <a:ln/>
        </p:spPr>
        <p:txBody>
          <a:bodyPr wrap="none" lIns="0" tIns="0" rIns="0" bIns="0" rtlCol="0" anchor="t"/>
          <a:lstStyle/>
          <a:p>
            <a:pPr marL="0" indent="0" algn="l">
              <a:lnSpc>
                <a:spcPct val="92000"/>
              </a:lnSpc>
              <a:buNone/>
            </a:pPr>
            <a:r>
              <a:rPr lang="en-US" sz="3400" kern="100" spc="-17" dirty="0">
                <a:solidFill>
                  <a:srgbClr val="0B2D5C"/>
                </a:solidFill>
                <a:latin typeface="Inter ExtraBold" pitchFamily="34" charset="0"/>
                <a:ea typeface="Inter ExtraBold" pitchFamily="34" charset="-122"/>
                <a:cs typeface="Inter ExtraBold" pitchFamily="34" charset="-120"/>
              </a:rPr>
              <a:t>Simulink Turns System Ideas into Experiments</a:t>
            </a:r>
            <a:endParaRPr lang="en-US" sz="3400" dirty="0"/>
          </a:p>
        </p:txBody>
      </p:sp>
      <p:sp>
        <p:nvSpPr>
          <p:cNvPr id="3" name="Text 1"/>
          <p:cNvSpPr/>
          <p:nvPr/>
        </p:nvSpPr>
        <p:spPr>
          <a:xfrm>
            <a:off x="609585" y="1252835"/>
            <a:ext cx="10972526" cy="552450"/>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1F2937"/>
                </a:solidFill>
                <a:latin typeface="Inter" pitchFamily="34" charset="0"/>
                <a:ea typeface="Inter" pitchFamily="34" charset="-122"/>
                <a:cs typeface="Inter" pitchFamily="34" charset="-120"/>
              </a:rPr>
              <a:t>MATLAB is the programming and numerical environment; Simulink is the graphical, block-diagram modeling environment. They work together to model, simulate, and analyze dynamic systems.</a:t>
            </a:r>
            <a:endParaRPr lang="en-US" sz="1500" dirty="0"/>
          </a:p>
        </p:txBody>
      </p:sp>
      <p:sp>
        <p:nvSpPr>
          <p:cNvPr id="4" name="Text 2"/>
          <p:cNvSpPr/>
          <p:nvPr/>
        </p:nvSpPr>
        <p:spPr>
          <a:xfrm>
            <a:off x="609585" y="1966416"/>
            <a:ext cx="4800480" cy="288925"/>
          </a:xfrm>
          <a:prstGeom prst="rect">
            <a:avLst/>
          </a:prstGeom>
          <a:noFill/>
          <a:ln/>
        </p:spPr>
        <p:txBody>
          <a:bodyPr wrap="none" lIns="0" tIns="0" rIns="0" bIns="0" rtlCol="0" anchor="t"/>
          <a:lstStyle/>
          <a:p>
            <a:pPr marL="0" indent="0" algn="l">
              <a:lnSpc>
                <a:spcPct val="108000"/>
              </a:lnSpc>
              <a:buNone/>
            </a:pPr>
            <a:r>
              <a:rPr lang="en-US" sz="1750" dirty="0">
                <a:solidFill>
                  <a:srgbClr val="0B2D5C"/>
                </a:solidFill>
                <a:latin typeface="Inter" pitchFamily="34" charset="0"/>
                <a:ea typeface="Inter" pitchFamily="34" charset="-122"/>
                <a:cs typeface="Inter" pitchFamily="34" charset="-120"/>
              </a:rPr>
              <a:t>From blocks to behavior</a:t>
            </a:r>
            <a:endParaRPr lang="en-US" sz="1750" dirty="0"/>
          </a:p>
        </p:txBody>
      </p:sp>
      <p:sp>
        <p:nvSpPr>
          <p:cNvPr id="5" name="Text 3"/>
          <p:cNvSpPr/>
          <p:nvPr/>
        </p:nvSpPr>
        <p:spPr>
          <a:xfrm>
            <a:off x="609585" y="2367260"/>
            <a:ext cx="4800480" cy="828675"/>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1F2937"/>
                </a:solidFill>
                <a:latin typeface="Inter" pitchFamily="34" charset="0"/>
                <a:ea typeface="Inter" pitchFamily="34" charset="-122"/>
                <a:cs typeface="Inter" pitchFamily="34" charset="-120"/>
              </a:rPr>
              <a:t>Interconnected blocks represent signals, dynamics, controllers, and feedback. Simulate behavior before physical implementation.</a:t>
            </a:r>
            <a:endParaRPr lang="en-US" sz="1500" dirty="0"/>
          </a:p>
        </p:txBody>
      </p:sp>
      <p:sp>
        <p:nvSpPr>
          <p:cNvPr id="6" name="Text 4"/>
          <p:cNvSpPr/>
          <p:nvPr/>
        </p:nvSpPr>
        <p:spPr>
          <a:xfrm>
            <a:off x="609585" y="3357066"/>
            <a:ext cx="4800480" cy="288925"/>
          </a:xfrm>
          <a:prstGeom prst="rect">
            <a:avLst/>
          </a:prstGeom>
          <a:noFill/>
          <a:ln/>
        </p:spPr>
        <p:txBody>
          <a:bodyPr wrap="none" lIns="0" tIns="0" rIns="0" bIns="0" rtlCol="0" anchor="t"/>
          <a:lstStyle/>
          <a:p>
            <a:pPr marL="0" indent="0" algn="l">
              <a:lnSpc>
                <a:spcPct val="108000"/>
              </a:lnSpc>
              <a:buNone/>
            </a:pPr>
            <a:r>
              <a:rPr lang="en-US" sz="1750" dirty="0">
                <a:solidFill>
                  <a:srgbClr val="0B2D5C"/>
                </a:solidFill>
                <a:latin typeface="Inter" pitchFamily="34" charset="0"/>
                <a:ea typeface="Inter" pitchFamily="34" charset="-122"/>
                <a:cs typeface="Inter" pitchFamily="34" charset="-120"/>
              </a:rPr>
              <a:t>Electric-motor speed</a:t>
            </a:r>
            <a:endParaRPr lang="en-US" sz="1750" dirty="0"/>
          </a:p>
        </p:txBody>
      </p:sp>
      <p:sp>
        <p:nvSpPr>
          <p:cNvPr id="7" name="Text 5"/>
          <p:cNvSpPr/>
          <p:nvPr/>
        </p:nvSpPr>
        <p:spPr>
          <a:xfrm>
            <a:off x="609585" y="3757910"/>
            <a:ext cx="4800480" cy="828675"/>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1F2937"/>
                </a:solidFill>
                <a:latin typeface="Inter" pitchFamily="34" charset="0"/>
                <a:ea typeface="Inter" pitchFamily="34" charset="-122"/>
                <a:cs typeface="Inter" pitchFamily="34" charset="-120"/>
              </a:rPr>
              <a:t>Compare desired speed with measured speed; a PID controller adjusts motor voltage, while feedback helps hold speed under load changes.</a:t>
            </a:r>
            <a:endParaRPr lang="en-US" sz="1500" dirty="0"/>
          </a:p>
        </p:txBody>
      </p:sp>
      <p:pic>
        <p:nvPicPr>
          <p:cNvPr id="8" name="Image 0" descr="preencoded.png"/>
          <p:cNvPicPr>
            <a:picLocks noChangeAspect="1"/>
          </p:cNvPicPr>
          <p:nvPr/>
        </p:nvPicPr>
        <p:blipFill>
          <a:blip r:embed="rId3"/>
          <a:stretch>
            <a:fillRect/>
          </a:stretch>
        </p:blipFill>
        <p:spPr>
          <a:xfrm>
            <a:off x="5714758" y="1957685"/>
            <a:ext cx="4289615" cy="2412901"/>
          </a:xfrm>
          <a:prstGeom prst="rect">
            <a:avLst/>
          </a:prstGeom>
        </p:spPr>
      </p:pic>
      <p:sp>
        <p:nvSpPr>
          <p:cNvPr id="9" name="Text 6"/>
          <p:cNvSpPr/>
          <p:nvPr/>
        </p:nvSpPr>
        <p:spPr>
          <a:xfrm>
            <a:off x="5714758" y="4443532"/>
            <a:ext cx="5867352" cy="197148"/>
          </a:xfrm>
          <a:prstGeom prst="rect">
            <a:avLst/>
          </a:prstGeom>
          <a:noFill/>
          <a:ln/>
        </p:spPr>
        <p:txBody>
          <a:bodyPr wrap="none" lIns="0" tIns="0" rIns="0" bIns="0" rtlCol="0" anchor="t"/>
          <a:lstStyle/>
          <a:p>
            <a:pPr marL="0" indent="0" algn="l">
              <a:lnSpc>
                <a:spcPct val="113000"/>
              </a:lnSpc>
              <a:buNone/>
            </a:pPr>
            <a:r>
              <a:rPr lang="en-US" sz="1150" kern="100" spc="6" dirty="0">
                <a:solidFill>
                  <a:srgbClr val="5B6B7A"/>
                </a:solidFill>
                <a:latin typeface="Inter Medium" pitchFamily="34" charset="0"/>
                <a:ea typeface="Inter Medium" pitchFamily="34" charset="-122"/>
                <a:cs typeface="Inter Medium" pitchFamily="34" charset="-120"/>
              </a:rPr>
              <a:t>Fig. 5.1 Feedback loop for electric motor velocity control in Simulink</a:t>
            </a:r>
            <a:endParaRPr lang="en-US" sz="1150" dirty="0"/>
          </a:p>
        </p:txBody>
      </p:sp>
      <p:sp>
        <p:nvSpPr>
          <p:cNvPr id="10" name="Text 7"/>
          <p:cNvSpPr/>
          <p:nvPr/>
        </p:nvSpPr>
        <p:spPr>
          <a:xfrm>
            <a:off x="609585" y="4798715"/>
            <a:ext cx="3505112" cy="288925"/>
          </a:xfrm>
          <a:prstGeom prst="rect">
            <a:avLst/>
          </a:prstGeom>
          <a:noFill/>
          <a:ln/>
        </p:spPr>
        <p:txBody>
          <a:bodyPr wrap="none" lIns="0" tIns="0" rIns="0" bIns="0" rtlCol="0" anchor="t"/>
          <a:lstStyle/>
          <a:p>
            <a:pPr marL="0" indent="0" algn="l">
              <a:lnSpc>
                <a:spcPct val="108000"/>
              </a:lnSpc>
              <a:buNone/>
            </a:pPr>
            <a:r>
              <a:rPr lang="en-US" sz="1750" dirty="0">
                <a:solidFill>
                  <a:srgbClr val="0B2D5C"/>
                </a:solidFill>
                <a:latin typeface="Inter" pitchFamily="34" charset="0"/>
                <a:ea typeface="Inter" pitchFamily="34" charset="-122"/>
                <a:cs typeface="Inter" pitchFamily="34" charset="-120"/>
              </a:rPr>
              <a:t>Automotive engineering</a:t>
            </a:r>
            <a:endParaRPr lang="en-US" sz="1750" dirty="0"/>
          </a:p>
        </p:txBody>
      </p:sp>
      <p:sp>
        <p:nvSpPr>
          <p:cNvPr id="11" name="Text 8"/>
          <p:cNvSpPr/>
          <p:nvPr/>
        </p:nvSpPr>
        <p:spPr>
          <a:xfrm>
            <a:off x="4419489" y="4798715"/>
            <a:ext cx="3352716" cy="288925"/>
          </a:xfrm>
          <a:prstGeom prst="rect">
            <a:avLst/>
          </a:prstGeom>
          <a:noFill/>
          <a:ln/>
        </p:spPr>
        <p:txBody>
          <a:bodyPr wrap="none" lIns="0" tIns="0" rIns="0" bIns="0" rtlCol="0" anchor="t"/>
          <a:lstStyle/>
          <a:p>
            <a:pPr marL="0" indent="0" algn="l">
              <a:lnSpc>
                <a:spcPct val="108000"/>
              </a:lnSpc>
              <a:buNone/>
            </a:pPr>
            <a:r>
              <a:rPr lang="en-US" sz="1750" dirty="0">
                <a:solidFill>
                  <a:srgbClr val="0B2D5C"/>
                </a:solidFill>
                <a:latin typeface="Inter" pitchFamily="34" charset="0"/>
                <a:ea typeface="Inter" pitchFamily="34" charset="-122"/>
                <a:cs typeface="Inter" pitchFamily="34" charset="-120"/>
              </a:rPr>
              <a:t>Industrial automation</a:t>
            </a:r>
            <a:endParaRPr lang="en-US" sz="1750" dirty="0"/>
          </a:p>
        </p:txBody>
      </p:sp>
      <p:sp>
        <p:nvSpPr>
          <p:cNvPr id="12" name="Text 9"/>
          <p:cNvSpPr/>
          <p:nvPr/>
        </p:nvSpPr>
        <p:spPr>
          <a:xfrm>
            <a:off x="8076998" y="4798715"/>
            <a:ext cx="3505112" cy="288925"/>
          </a:xfrm>
          <a:prstGeom prst="rect">
            <a:avLst/>
          </a:prstGeom>
          <a:noFill/>
          <a:ln/>
        </p:spPr>
        <p:txBody>
          <a:bodyPr wrap="none" lIns="0" tIns="0" rIns="0" bIns="0" rtlCol="0" anchor="t"/>
          <a:lstStyle/>
          <a:p>
            <a:pPr marL="0" indent="0" algn="l">
              <a:lnSpc>
                <a:spcPct val="108000"/>
              </a:lnSpc>
              <a:buNone/>
            </a:pPr>
            <a:r>
              <a:rPr lang="en-US" sz="1750" dirty="0">
                <a:solidFill>
                  <a:srgbClr val="0B2D5C"/>
                </a:solidFill>
                <a:latin typeface="Inter" pitchFamily="34" charset="0"/>
                <a:ea typeface="Inter" pitchFamily="34" charset="-122"/>
                <a:cs typeface="Inter" pitchFamily="34" charset="-120"/>
              </a:rPr>
              <a:t>Aerospace</a:t>
            </a:r>
            <a:endParaRPr lang="en-US" sz="1750" dirty="0"/>
          </a:p>
        </p:txBody>
      </p:sp>
      <p:sp>
        <p:nvSpPr>
          <p:cNvPr id="13" name="Shape 10"/>
          <p:cNvSpPr/>
          <p:nvPr/>
        </p:nvSpPr>
        <p:spPr>
          <a:xfrm>
            <a:off x="0" y="6223000"/>
            <a:ext cx="12191695" cy="9525"/>
          </a:xfrm>
          <a:prstGeom prst="rect">
            <a:avLst/>
          </a:prstGeom>
          <a:solidFill>
            <a:srgbClr val="1F2937">
              <a:alpha val="20000"/>
            </a:srgbClr>
          </a:solidFill>
          <a:ln/>
        </p:spPr>
        <p:txBody>
          <a:bodyPr/>
          <a:lstStyle/>
          <a:p>
            <a:endParaRPr lang="en-US"/>
          </a:p>
        </p:txBody>
      </p:sp>
      <p:sp>
        <p:nvSpPr>
          <p:cNvPr id="14" name="Text 11"/>
          <p:cNvSpPr/>
          <p:nvPr/>
        </p:nvSpPr>
        <p:spPr>
          <a:xfrm>
            <a:off x="11947524" y="6452989"/>
            <a:ext cx="244171" cy="174923"/>
          </a:xfrm>
          <a:prstGeom prst="rect">
            <a:avLst/>
          </a:prstGeom>
          <a:noFill/>
          <a:ln/>
        </p:spPr>
        <p:txBody>
          <a:bodyPr wrap="none" lIns="0" tIns="0" rIns="0" bIns="0" rtlCol="0" anchor="ctr"/>
          <a:lstStyle/>
          <a:p>
            <a:pPr marL="0" indent="0" algn="l">
              <a:lnSpc>
                <a:spcPct val="121000"/>
              </a:lnSpc>
              <a:buNone/>
            </a:pPr>
            <a:r>
              <a:rPr lang="en-US" sz="950" dirty="0">
                <a:solidFill>
                  <a:srgbClr val="1F2937"/>
                </a:solidFill>
                <a:latin typeface="Inter" pitchFamily="34" charset="0"/>
                <a:ea typeface="Inter" pitchFamily="34" charset="-122"/>
                <a:cs typeface="Inter" pitchFamily="34" charset="-120"/>
              </a:rPr>
              <a:t>5</a:t>
            </a:r>
            <a:endParaRPr lang="en-US" sz="950" dirty="0"/>
          </a:p>
        </p:txBody>
      </p:sp>
      <p:sp>
        <p:nvSpPr>
          <p:cNvPr id="15" name="Shape 12"/>
          <p:cNvSpPr/>
          <p:nvPr/>
        </p:nvSpPr>
        <p:spPr>
          <a:xfrm>
            <a:off x="4260743" y="4789984"/>
            <a:ext cx="12700" cy="288925"/>
          </a:xfrm>
          <a:prstGeom prst="rect">
            <a:avLst/>
          </a:prstGeom>
          <a:solidFill>
            <a:srgbClr val="0B2D5C"/>
          </a:solidFill>
          <a:ln/>
        </p:spPr>
        <p:txBody>
          <a:bodyPr/>
          <a:lstStyle/>
          <a:p>
            <a:endParaRPr lang="en-US"/>
          </a:p>
        </p:txBody>
      </p:sp>
      <p:sp>
        <p:nvSpPr>
          <p:cNvPr id="16" name="Shape 13"/>
          <p:cNvSpPr/>
          <p:nvPr/>
        </p:nvSpPr>
        <p:spPr>
          <a:xfrm>
            <a:off x="7918252" y="4789984"/>
            <a:ext cx="12700" cy="288925"/>
          </a:xfrm>
          <a:prstGeom prst="rect">
            <a:avLst/>
          </a:prstGeom>
          <a:solidFill>
            <a:srgbClr val="0B2D5C"/>
          </a:solidFill>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16828"/>
            <a:ext cx="11582110" cy="161528"/>
          </a:xfrm>
          <a:prstGeom prst="rect">
            <a:avLst/>
          </a:prstGeom>
          <a:noFill/>
          <a:ln/>
        </p:spPr>
        <p:txBody>
          <a:bodyPr wrap="none" lIns="0" tIns="0" rIns="0" bIns="0" rtlCol="0" anchor="t"/>
          <a:lstStyle/>
          <a:p>
            <a:pPr marL="0" indent="0" algn="l">
              <a:lnSpc>
                <a:spcPct val="104000"/>
              </a:lnSpc>
              <a:buNone/>
            </a:pPr>
            <a:r>
              <a:rPr lang="en-US" sz="1000" b="1" kern="100" spc="10" dirty="0">
                <a:solidFill>
                  <a:srgbClr val="2F80C9"/>
                </a:solidFill>
                <a:latin typeface="Inter Bold" pitchFamily="34" charset="0"/>
                <a:ea typeface="Inter Bold" pitchFamily="34" charset="-122"/>
                <a:cs typeface="Inter Bold" pitchFamily="34" charset="-120"/>
              </a:rPr>
              <a:t>DIGITAL SIGNAL PROCESSING</a:t>
            </a:r>
            <a:endParaRPr lang="en-US" sz="1000" dirty="0"/>
          </a:p>
        </p:txBody>
      </p:sp>
      <p:sp>
        <p:nvSpPr>
          <p:cNvPr id="3" name="Text 1"/>
          <p:cNvSpPr/>
          <p:nvPr/>
        </p:nvSpPr>
        <p:spPr>
          <a:xfrm>
            <a:off x="609585" y="831919"/>
            <a:ext cx="10972526" cy="371872"/>
          </a:xfrm>
          <a:prstGeom prst="rect">
            <a:avLst/>
          </a:prstGeom>
          <a:noFill/>
          <a:ln/>
        </p:spPr>
        <p:txBody>
          <a:bodyPr wrap="none" lIns="0" tIns="0" rIns="0" bIns="0" rtlCol="0" anchor="t"/>
          <a:lstStyle/>
          <a:p>
            <a:pPr marL="0" indent="0" algn="l">
              <a:lnSpc>
                <a:spcPct val="92000"/>
              </a:lnSpc>
              <a:buNone/>
            </a:pPr>
            <a:r>
              <a:rPr lang="en-US" sz="2650" kern="100" spc="-13" dirty="0">
                <a:solidFill>
                  <a:srgbClr val="0B2D5C"/>
                </a:solidFill>
                <a:latin typeface="Inter ExtraBold" pitchFamily="34" charset="0"/>
                <a:ea typeface="Inter ExtraBold" pitchFamily="34" charset="-122"/>
                <a:cs typeface="Inter ExtraBold" pitchFamily="34" charset="-120"/>
              </a:rPr>
              <a:t>See the Signal in Time and Frequency</a:t>
            </a:r>
            <a:endParaRPr lang="en-US" sz="2650" dirty="0"/>
          </a:p>
        </p:txBody>
      </p:sp>
      <p:sp>
        <p:nvSpPr>
          <p:cNvPr id="4" name="Text 2"/>
          <p:cNvSpPr/>
          <p:nvPr/>
        </p:nvSpPr>
        <p:spPr>
          <a:xfrm>
            <a:off x="609585" y="1293036"/>
            <a:ext cx="10972526" cy="385366"/>
          </a:xfrm>
          <a:prstGeom prst="rect">
            <a:avLst/>
          </a:prstGeom>
          <a:noFill/>
          <a:ln/>
        </p:spPr>
        <p:txBody>
          <a:bodyPr wrap="square" lIns="0" tIns="0" rIns="0" bIns="0" rtlCol="0" anchor="t">
            <a:normAutofit/>
          </a:bodyPr>
          <a:lstStyle/>
          <a:p>
            <a:pPr marL="0" indent="0" algn="l">
              <a:lnSpc>
                <a:spcPct val="108000"/>
              </a:lnSpc>
              <a:buNone/>
            </a:pPr>
            <a:r>
              <a:rPr lang="en-US" sz="1150" dirty="0">
                <a:solidFill>
                  <a:srgbClr val="1F2937"/>
                </a:solidFill>
                <a:latin typeface="Inter" pitchFamily="34" charset="0"/>
                <a:ea typeface="Inter" pitchFamily="34" charset="-122"/>
                <a:cs typeface="Inter" pitchFamily="34" charset="-120"/>
              </a:rPr>
              <a:t>Physical signals from microphones, antennas, vibration probes, and medical sensors arrive with noise. MATLAB transforms raw time waveforms into clear spectral insights.</a:t>
            </a:r>
            <a:endParaRPr lang="en-US" sz="1150" dirty="0"/>
          </a:p>
        </p:txBody>
      </p:sp>
      <p:sp>
        <p:nvSpPr>
          <p:cNvPr id="5" name="Shape 3"/>
          <p:cNvSpPr/>
          <p:nvPr/>
        </p:nvSpPr>
        <p:spPr>
          <a:xfrm>
            <a:off x="609585" y="1767582"/>
            <a:ext cx="3454314" cy="1781473"/>
          </a:xfrm>
          <a:prstGeom prst="rect">
            <a:avLst/>
          </a:prstGeom>
          <a:solidFill>
            <a:srgbClr val="EAF4FB"/>
          </a:solidFill>
          <a:ln w="19050">
            <a:solidFill>
              <a:srgbClr val="0B2D5C"/>
            </a:solidFill>
            <a:prstDash val="solid"/>
          </a:ln>
        </p:spPr>
        <p:txBody>
          <a:bodyPr/>
          <a:lstStyle/>
          <a:p>
            <a:endParaRPr lang="en-US"/>
          </a:p>
        </p:txBody>
      </p:sp>
      <p:sp>
        <p:nvSpPr>
          <p:cNvPr id="6" name="Text 4"/>
          <p:cNvSpPr/>
          <p:nvPr/>
        </p:nvSpPr>
        <p:spPr>
          <a:xfrm>
            <a:off x="831829" y="1974551"/>
            <a:ext cx="3009825" cy="226219"/>
          </a:xfrm>
          <a:prstGeom prst="rect">
            <a:avLst/>
          </a:prstGeom>
          <a:noFill/>
          <a:ln/>
        </p:spPr>
        <p:txBody>
          <a:bodyPr wrap="none" lIns="0" tIns="0" rIns="0" bIns="0" rtlCol="0" anchor="t"/>
          <a:lstStyle/>
          <a:p>
            <a:pPr marL="0" indent="0" algn="l">
              <a:lnSpc>
                <a:spcPct val="108000"/>
              </a:lnSpc>
              <a:buNone/>
            </a:pPr>
            <a:r>
              <a:rPr lang="en-US" sz="1350" dirty="0">
                <a:solidFill>
                  <a:srgbClr val="1F2937"/>
                </a:solidFill>
                <a:latin typeface="Inter" pitchFamily="34" charset="0"/>
                <a:ea typeface="Inter" pitchFamily="34" charset="-122"/>
                <a:cs typeface="Inter" pitchFamily="34" charset="-120"/>
              </a:rPr>
              <a:t>1. Time Domain Waveform</a:t>
            </a:r>
            <a:endParaRPr lang="en-US" sz="1350" dirty="0"/>
          </a:p>
        </p:txBody>
      </p:sp>
      <p:sp>
        <p:nvSpPr>
          <p:cNvPr id="7" name="Text 5"/>
          <p:cNvSpPr/>
          <p:nvPr/>
        </p:nvSpPr>
        <p:spPr>
          <a:xfrm>
            <a:off x="831829" y="2273573"/>
            <a:ext cx="3009825" cy="693738"/>
          </a:xfrm>
          <a:prstGeom prst="rect">
            <a:avLst/>
          </a:prstGeom>
          <a:noFill/>
          <a:ln/>
        </p:spPr>
        <p:txBody>
          <a:bodyPr wrap="square" lIns="0" tIns="0" rIns="0" bIns="0" rtlCol="0" anchor="t">
            <a:normAutofit/>
          </a:bodyPr>
          <a:lstStyle/>
          <a:p>
            <a:pPr marL="0" indent="0" algn="l">
              <a:lnSpc>
                <a:spcPct val="108000"/>
              </a:lnSpc>
              <a:buNone/>
            </a:pPr>
            <a:r>
              <a:rPr lang="en-US" sz="1050" dirty="0">
                <a:solidFill>
                  <a:srgbClr val="1F2937"/>
                </a:solidFill>
                <a:latin typeface="Inter" pitchFamily="34" charset="0"/>
                <a:ea typeface="Inter" pitchFamily="34" charset="-122"/>
                <a:cs typeface="Inter" pitchFamily="34" charset="-120"/>
              </a:rPr>
              <a:t>A 50 Hz pure tone corrupted by broadband Gaussian sensor noise. In the raw time series, the underlying frequency structure is hidden by noise spikes.</a:t>
            </a:r>
            <a:endParaRPr lang="en-US" sz="1050" dirty="0"/>
          </a:p>
        </p:txBody>
      </p:sp>
      <p:sp>
        <p:nvSpPr>
          <p:cNvPr id="8" name="Shape 6"/>
          <p:cNvSpPr/>
          <p:nvPr/>
        </p:nvSpPr>
        <p:spPr>
          <a:xfrm>
            <a:off x="831829" y="3055838"/>
            <a:ext cx="3009825" cy="19050"/>
          </a:xfrm>
          <a:prstGeom prst="roundRect">
            <a:avLst>
              <a:gd name="adj" fmla="val 49999"/>
            </a:avLst>
          </a:prstGeom>
          <a:solidFill>
            <a:srgbClr val="0B2D5C"/>
          </a:solidFill>
          <a:ln/>
        </p:spPr>
        <p:txBody>
          <a:bodyPr/>
          <a:lstStyle/>
          <a:p>
            <a:endParaRPr lang="en-US"/>
          </a:p>
        </p:txBody>
      </p:sp>
      <p:sp>
        <p:nvSpPr>
          <p:cNvPr id="9" name="Text 7"/>
          <p:cNvSpPr/>
          <p:nvPr/>
        </p:nvSpPr>
        <p:spPr>
          <a:xfrm>
            <a:off x="831829" y="3181425"/>
            <a:ext cx="3232069" cy="179784"/>
          </a:xfrm>
          <a:prstGeom prst="rect">
            <a:avLst/>
          </a:prstGeom>
          <a:noFill/>
          <a:ln/>
        </p:spPr>
        <p:txBody>
          <a:bodyPr wrap="none" lIns="0" tIns="0" rIns="0" bIns="0" rtlCol="0" anchor="t"/>
          <a:lstStyle/>
          <a:p>
            <a:pPr marL="0" indent="0" algn="l">
              <a:lnSpc>
                <a:spcPct val="108000"/>
              </a:lnSpc>
              <a:buNone/>
            </a:pPr>
            <a:r>
              <a:rPr lang="en-US" sz="1050" dirty="0">
                <a:solidFill>
                  <a:srgbClr val="1F2937"/>
                </a:solidFill>
                <a:latin typeface="Consolas" pitchFamily="34" charset="0"/>
                <a:ea typeface="Consolas" pitchFamily="34" charset="-122"/>
                <a:cs typeface="Consolas" pitchFamily="34" charset="-120"/>
              </a:rPr>
              <a:t>x_noisy = sin(2*pi*50*t) + noise</a:t>
            </a:r>
            <a:endParaRPr lang="en-US" sz="1050" dirty="0"/>
          </a:p>
        </p:txBody>
      </p:sp>
      <p:sp>
        <p:nvSpPr>
          <p:cNvPr id="10" name="Shape 8"/>
          <p:cNvSpPr/>
          <p:nvPr/>
        </p:nvSpPr>
        <p:spPr>
          <a:xfrm>
            <a:off x="4368691" y="1767582"/>
            <a:ext cx="3454314" cy="1781473"/>
          </a:xfrm>
          <a:prstGeom prst="rect">
            <a:avLst/>
          </a:prstGeom>
          <a:solidFill>
            <a:srgbClr val="EAF4FB"/>
          </a:solidFill>
          <a:ln/>
        </p:spPr>
        <p:txBody>
          <a:bodyPr/>
          <a:lstStyle/>
          <a:p>
            <a:endParaRPr lang="en-US"/>
          </a:p>
        </p:txBody>
      </p:sp>
      <p:sp>
        <p:nvSpPr>
          <p:cNvPr id="11" name="Text 9"/>
          <p:cNvSpPr/>
          <p:nvPr/>
        </p:nvSpPr>
        <p:spPr>
          <a:xfrm>
            <a:off x="4571886" y="1955501"/>
            <a:ext cx="3047924" cy="226219"/>
          </a:xfrm>
          <a:prstGeom prst="rect">
            <a:avLst/>
          </a:prstGeom>
          <a:noFill/>
          <a:ln/>
        </p:spPr>
        <p:txBody>
          <a:bodyPr wrap="none" lIns="0" tIns="0" rIns="0" bIns="0" rtlCol="0" anchor="t"/>
          <a:lstStyle/>
          <a:p>
            <a:pPr marL="0" indent="0" algn="l">
              <a:lnSpc>
                <a:spcPct val="108000"/>
              </a:lnSpc>
              <a:buNone/>
            </a:pPr>
            <a:r>
              <a:rPr lang="en-US" sz="1350" dirty="0">
                <a:solidFill>
                  <a:srgbClr val="000000"/>
                </a:solidFill>
                <a:latin typeface="Inter" pitchFamily="34" charset="0"/>
                <a:ea typeface="Inter" pitchFamily="34" charset="-122"/>
                <a:cs typeface="Inter" pitchFamily="34" charset="-120"/>
              </a:rPr>
              <a:t>2. Fast Fourier Transform</a:t>
            </a:r>
            <a:endParaRPr lang="en-US" sz="1350" dirty="0"/>
          </a:p>
        </p:txBody>
      </p:sp>
      <p:sp>
        <p:nvSpPr>
          <p:cNvPr id="12" name="Text 10"/>
          <p:cNvSpPr/>
          <p:nvPr/>
        </p:nvSpPr>
        <p:spPr>
          <a:xfrm>
            <a:off x="4571886" y="2254523"/>
            <a:ext cx="3047924" cy="700088"/>
          </a:xfrm>
          <a:prstGeom prst="rect">
            <a:avLst/>
          </a:prstGeom>
          <a:noFill/>
          <a:ln/>
        </p:spPr>
        <p:txBody>
          <a:bodyPr wrap="square" lIns="0" tIns="0" rIns="0" bIns="0" rtlCol="0" anchor="t">
            <a:normAutofit/>
          </a:bodyPr>
          <a:lstStyle/>
          <a:p>
            <a:pPr marL="0" indent="0" algn="l">
              <a:lnSpc>
                <a:spcPct val="108000"/>
              </a:lnSpc>
              <a:buNone/>
            </a:pPr>
            <a:r>
              <a:rPr lang="en-US" sz="1050" dirty="0">
                <a:solidFill>
                  <a:srgbClr val="000000"/>
                </a:solidFill>
                <a:latin typeface="Inter" pitchFamily="34" charset="0"/>
                <a:ea typeface="Inter" pitchFamily="34" charset="-122"/>
                <a:cs typeface="Inter" pitchFamily="34" charset="-120"/>
              </a:rPr>
              <a:t>The </a:t>
            </a:r>
            <a:r>
              <a:rPr lang="en-US" sz="1050" dirty="0">
                <a:solidFill>
                  <a:srgbClr val="000000"/>
                </a:solidFill>
                <a:latin typeface="Consolas" pitchFamily="34" charset="0"/>
                <a:ea typeface="Consolas" pitchFamily="34" charset="-122"/>
                <a:cs typeface="Consolas" pitchFamily="34" charset="-120"/>
              </a:rPr>
              <a:t>fft()</a:t>
            </a:r>
            <a:r>
              <a:rPr lang="en-US" sz="1050" dirty="0">
                <a:solidFill>
                  <a:srgbClr val="000000"/>
                </a:solidFill>
                <a:latin typeface="Inter" pitchFamily="34" charset="0"/>
                <a:ea typeface="Inter" pitchFamily="34" charset="-122"/>
                <a:cs typeface="Inter" pitchFamily="34" charset="-120"/>
              </a:rPr>
              <a:t> algorithm decomposes time-domain samples into constituent sinusoidal frequencies, revealing an unmistakable energy peak at 50 Hz.</a:t>
            </a:r>
            <a:endParaRPr lang="en-US" sz="1050" dirty="0"/>
          </a:p>
        </p:txBody>
      </p:sp>
      <p:sp>
        <p:nvSpPr>
          <p:cNvPr id="13" name="Shape 11"/>
          <p:cNvSpPr/>
          <p:nvPr/>
        </p:nvSpPr>
        <p:spPr>
          <a:xfrm>
            <a:off x="4571886" y="3043138"/>
            <a:ext cx="3047924" cy="19050"/>
          </a:xfrm>
          <a:prstGeom prst="roundRect">
            <a:avLst>
              <a:gd name="adj" fmla="val 49999"/>
            </a:avLst>
          </a:prstGeom>
          <a:solidFill>
            <a:srgbClr val="0B2D5C"/>
          </a:solidFill>
          <a:ln/>
        </p:spPr>
        <p:txBody>
          <a:bodyPr/>
          <a:lstStyle/>
          <a:p>
            <a:endParaRPr lang="en-US"/>
          </a:p>
        </p:txBody>
      </p:sp>
      <p:sp>
        <p:nvSpPr>
          <p:cNvPr id="14" name="Text 12"/>
          <p:cNvSpPr/>
          <p:nvPr/>
        </p:nvSpPr>
        <p:spPr>
          <a:xfrm>
            <a:off x="4571886" y="3168725"/>
            <a:ext cx="3251119" cy="179784"/>
          </a:xfrm>
          <a:prstGeom prst="rect">
            <a:avLst/>
          </a:prstGeom>
          <a:noFill/>
          <a:ln/>
        </p:spPr>
        <p:txBody>
          <a:bodyPr wrap="none" lIns="0" tIns="0" rIns="0" bIns="0" rtlCol="0" anchor="t"/>
          <a:lstStyle/>
          <a:p>
            <a:pPr marL="0" indent="0" algn="l">
              <a:lnSpc>
                <a:spcPct val="108000"/>
              </a:lnSpc>
              <a:buNone/>
            </a:pPr>
            <a:r>
              <a:rPr lang="en-US" sz="1050" dirty="0">
                <a:solidFill>
                  <a:srgbClr val="000000"/>
                </a:solidFill>
                <a:latin typeface="Consolas" pitchFamily="34" charset="0"/>
                <a:ea typeface="Consolas" pitchFamily="34" charset="-122"/>
                <a:cs typeface="Consolas" pitchFamily="34" charset="-120"/>
              </a:rPr>
              <a:t>Y = abs(fft(x_noisy)/N);</a:t>
            </a:r>
            <a:endParaRPr lang="en-US" sz="1050" dirty="0"/>
          </a:p>
        </p:txBody>
      </p:sp>
      <p:sp>
        <p:nvSpPr>
          <p:cNvPr id="15" name="Shape 13"/>
          <p:cNvSpPr/>
          <p:nvPr/>
        </p:nvSpPr>
        <p:spPr>
          <a:xfrm>
            <a:off x="8127797" y="1767582"/>
            <a:ext cx="3454314" cy="1781473"/>
          </a:xfrm>
          <a:prstGeom prst="rect">
            <a:avLst/>
          </a:prstGeom>
          <a:solidFill>
            <a:srgbClr val="FFF2E3"/>
          </a:solidFill>
          <a:ln/>
        </p:spPr>
        <p:txBody>
          <a:bodyPr/>
          <a:lstStyle/>
          <a:p>
            <a:endParaRPr lang="en-US"/>
          </a:p>
        </p:txBody>
      </p:sp>
      <p:sp>
        <p:nvSpPr>
          <p:cNvPr id="16" name="Text 14"/>
          <p:cNvSpPr/>
          <p:nvPr/>
        </p:nvSpPr>
        <p:spPr>
          <a:xfrm>
            <a:off x="8330992" y="1955501"/>
            <a:ext cx="3047924" cy="226219"/>
          </a:xfrm>
          <a:prstGeom prst="rect">
            <a:avLst/>
          </a:prstGeom>
          <a:noFill/>
          <a:ln/>
        </p:spPr>
        <p:txBody>
          <a:bodyPr wrap="none" lIns="0" tIns="0" rIns="0" bIns="0" rtlCol="0" anchor="t"/>
          <a:lstStyle/>
          <a:p>
            <a:pPr marL="0" indent="0" algn="l">
              <a:lnSpc>
                <a:spcPct val="108000"/>
              </a:lnSpc>
              <a:buNone/>
            </a:pPr>
            <a:r>
              <a:rPr lang="en-US" sz="1350" dirty="0">
                <a:solidFill>
                  <a:srgbClr val="000000"/>
                </a:solidFill>
                <a:latin typeface="Inter" pitchFamily="34" charset="0"/>
                <a:ea typeface="Inter" pitchFamily="34" charset="-122"/>
                <a:cs typeface="Inter" pitchFamily="34" charset="-120"/>
              </a:rPr>
              <a:t>3. Digital Noise Filtering</a:t>
            </a:r>
            <a:endParaRPr lang="en-US" sz="1350" dirty="0"/>
          </a:p>
        </p:txBody>
      </p:sp>
      <p:sp>
        <p:nvSpPr>
          <p:cNvPr id="17" name="Text 15"/>
          <p:cNvSpPr/>
          <p:nvPr/>
        </p:nvSpPr>
        <p:spPr>
          <a:xfrm>
            <a:off x="8330992" y="2254523"/>
            <a:ext cx="3047924" cy="526653"/>
          </a:xfrm>
          <a:prstGeom prst="rect">
            <a:avLst/>
          </a:prstGeom>
          <a:noFill/>
          <a:ln/>
        </p:spPr>
        <p:txBody>
          <a:bodyPr wrap="square" lIns="0" tIns="0" rIns="0" bIns="0" rtlCol="0" anchor="t">
            <a:normAutofit/>
          </a:bodyPr>
          <a:lstStyle/>
          <a:p>
            <a:pPr marL="0" indent="0" algn="l">
              <a:lnSpc>
                <a:spcPct val="108000"/>
              </a:lnSpc>
              <a:buNone/>
            </a:pPr>
            <a:r>
              <a:rPr lang="en-US" sz="1050" dirty="0">
                <a:solidFill>
                  <a:srgbClr val="000000"/>
                </a:solidFill>
                <a:latin typeface="Inter" pitchFamily="34" charset="0"/>
                <a:ea typeface="Inter" pitchFamily="34" charset="-122"/>
                <a:cs typeface="Inter" pitchFamily="34" charset="-120"/>
              </a:rPr>
              <a:t>Designing a low-pass or band-pass Butterworth filter with </a:t>
            </a:r>
            <a:r>
              <a:rPr lang="en-US" sz="1050" dirty="0">
                <a:solidFill>
                  <a:srgbClr val="000000"/>
                </a:solidFill>
                <a:latin typeface="Consolas" pitchFamily="34" charset="0"/>
                <a:ea typeface="Consolas" pitchFamily="34" charset="-122"/>
                <a:cs typeface="Consolas" pitchFamily="34" charset="-120"/>
              </a:rPr>
              <a:t>butter()</a:t>
            </a:r>
            <a:r>
              <a:rPr lang="en-US" sz="1050" dirty="0">
                <a:solidFill>
                  <a:srgbClr val="000000"/>
                </a:solidFill>
                <a:latin typeface="Inter" pitchFamily="34" charset="0"/>
                <a:ea typeface="Inter" pitchFamily="34" charset="-122"/>
                <a:cs typeface="Inter" pitchFamily="34" charset="-120"/>
              </a:rPr>
              <a:t> removes high-frequency hiss, recovering the original clean sinusoid.</a:t>
            </a:r>
            <a:endParaRPr lang="en-US" sz="1050" dirty="0"/>
          </a:p>
        </p:txBody>
      </p:sp>
      <p:sp>
        <p:nvSpPr>
          <p:cNvPr id="18" name="Shape 16"/>
          <p:cNvSpPr/>
          <p:nvPr/>
        </p:nvSpPr>
        <p:spPr>
          <a:xfrm>
            <a:off x="8330992" y="2869704"/>
            <a:ext cx="3047924" cy="19050"/>
          </a:xfrm>
          <a:prstGeom prst="roundRect">
            <a:avLst>
              <a:gd name="adj" fmla="val 49999"/>
            </a:avLst>
          </a:prstGeom>
          <a:solidFill>
            <a:srgbClr val="0B2D5C"/>
          </a:solidFill>
          <a:ln/>
        </p:spPr>
        <p:txBody>
          <a:bodyPr/>
          <a:lstStyle/>
          <a:p>
            <a:endParaRPr lang="en-US"/>
          </a:p>
        </p:txBody>
      </p:sp>
      <p:sp>
        <p:nvSpPr>
          <p:cNvPr id="19" name="Text 17"/>
          <p:cNvSpPr/>
          <p:nvPr/>
        </p:nvSpPr>
        <p:spPr>
          <a:xfrm>
            <a:off x="8330992" y="2995291"/>
            <a:ext cx="3251119" cy="179784"/>
          </a:xfrm>
          <a:prstGeom prst="rect">
            <a:avLst/>
          </a:prstGeom>
          <a:noFill/>
          <a:ln/>
        </p:spPr>
        <p:txBody>
          <a:bodyPr wrap="none" lIns="0" tIns="0" rIns="0" bIns="0" rtlCol="0" anchor="t"/>
          <a:lstStyle/>
          <a:p>
            <a:pPr marL="0" indent="0" algn="l">
              <a:lnSpc>
                <a:spcPct val="108000"/>
              </a:lnSpc>
              <a:buNone/>
            </a:pPr>
            <a:r>
              <a:rPr lang="en-US" sz="1050" dirty="0">
                <a:solidFill>
                  <a:srgbClr val="000000"/>
                </a:solidFill>
                <a:latin typeface="Consolas" pitchFamily="34" charset="0"/>
                <a:ea typeface="Consolas" pitchFamily="34" charset="-122"/>
                <a:cs typeface="Consolas" pitchFamily="34" charset="-120"/>
              </a:rPr>
              <a:t>clean = filter(b, a, x_noisy);</a:t>
            </a:r>
            <a:endParaRPr lang="en-US" sz="1050" dirty="0"/>
          </a:p>
        </p:txBody>
      </p:sp>
      <p:pic>
        <p:nvPicPr>
          <p:cNvPr id="20" name="Image 0" descr="preencoded.png"/>
          <p:cNvPicPr>
            <a:picLocks noChangeAspect="1"/>
          </p:cNvPicPr>
          <p:nvPr/>
        </p:nvPicPr>
        <p:blipFill>
          <a:blip r:embed="rId3"/>
          <a:stretch>
            <a:fillRect/>
          </a:stretch>
        </p:blipFill>
        <p:spPr>
          <a:xfrm>
            <a:off x="609585" y="3642420"/>
            <a:ext cx="6659694" cy="2466578"/>
          </a:xfrm>
          <a:prstGeom prst="rect">
            <a:avLst/>
          </a:prstGeom>
        </p:spPr>
      </p:pic>
      <p:sp>
        <p:nvSpPr>
          <p:cNvPr id="21" name="Text 18"/>
          <p:cNvSpPr/>
          <p:nvPr/>
        </p:nvSpPr>
        <p:spPr>
          <a:xfrm>
            <a:off x="609585" y="6156029"/>
            <a:ext cx="6659694" cy="154384"/>
          </a:xfrm>
          <a:prstGeom prst="rect">
            <a:avLst/>
          </a:prstGeom>
          <a:noFill/>
          <a:ln/>
        </p:spPr>
        <p:txBody>
          <a:bodyPr wrap="none" lIns="0" tIns="0" rIns="0" bIns="0" rtlCol="0" anchor="t"/>
          <a:lstStyle/>
          <a:p>
            <a:pPr marL="0" indent="0" algn="l">
              <a:lnSpc>
                <a:spcPct val="112000"/>
              </a:lnSpc>
              <a:buNone/>
            </a:pPr>
            <a:r>
              <a:rPr lang="en-US" sz="900" kern="100" spc="5" dirty="0">
                <a:solidFill>
                  <a:srgbClr val="5B6B7A"/>
                </a:solidFill>
                <a:latin typeface="Inter Medium" pitchFamily="34" charset="0"/>
                <a:ea typeface="Inter Medium" pitchFamily="34" charset="-122"/>
                <a:cs typeface="Inter Medium" pitchFamily="34" charset="-120"/>
              </a:rPr>
              <a:t>Fig. 6.1 Single-sided amplitude spectrum showing dominant 50 Hz fundamental frequency</a:t>
            </a:r>
            <a:endParaRPr lang="en-US" sz="900" dirty="0"/>
          </a:p>
        </p:txBody>
      </p:sp>
      <p:sp>
        <p:nvSpPr>
          <p:cNvPr id="22" name="Shape 19"/>
          <p:cNvSpPr/>
          <p:nvPr/>
        </p:nvSpPr>
        <p:spPr>
          <a:xfrm>
            <a:off x="7726368" y="3642420"/>
            <a:ext cx="244469" cy="244475"/>
          </a:xfrm>
          <a:prstGeom prst="ellipse">
            <a:avLst/>
          </a:prstGeom>
          <a:solidFill>
            <a:srgbClr val="0B2D5C"/>
          </a:solidFill>
          <a:ln w="6350">
            <a:solidFill>
              <a:srgbClr val="3463B4"/>
            </a:solidFill>
            <a:prstDash val="solid"/>
          </a:ln>
        </p:spPr>
        <p:txBody>
          <a:bodyPr/>
          <a:lstStyle/>
          <a:p>
            <a:endParaRPr lang="en-US"/>
          </a:p>
        </p:txBody>
      </p:sp>
      <p:sp>
        <p:nvSpPr>
          <p:cNvPr id="23" name="Text 20"/>
          <p:cNvSpPr/>
          <p:nvPr/>
        </p:nvSpPr>
        <p:spPr>
          <a:xfrm>
            <a:off x="7818440" y="3694807"/>
            <a:ext cx="669908" cy="139700"/>
          </a:xfrm>
          <a:prstGeom prst="rect">
            <a:avLst/>
          </a:prstGeom>
          <a:noFill/>
          <a:ln/>
        </p:spPr>
        <p:txBody>
          <a:bodyPr wrap="none" lIns="0" tIns="0" rIns="0" bIns="0" rtlCol="0" anchor="t"/>
          <a:lstStyle/>
          <a:p>
            <a:pPr marL="0" indent="0" algn="l">
              <a:lnSpc>
                <a:spcPct val="83000"/>
              </a:lnSpc>
              <a:buNone/>
            </a:pPr>
            <a:r>
              <a:rPr lang="en-US" sz="1100" b="1" dirty="0">
                <a:solidFill>
                  <a:srgbClr val="FFFFFF"/>
                </a:solidFill>
                <a:latin typeface="Inter Bold" pitchFamily="34" charset="0"/>
                <a:ea typeface="Inter Bold" pitchFamily="34" charset="-122"/>
                <a:cs typeface="Inter Bold" pitchFamily="34" charset="-120"/>
              </a:rPr>
              <a:t>1</a:t>
            </a:r>
            <a:endParaRPr lang="en-US" sz="1100" dirty="0"/>
          </a:p>
        </p:txBody>
      </p:sp>
      <p:sp>
        <p:nvSpPr>
          <p:cNvPr id="24" name="Text 21"/>
          <p:cNvSpPr/>
          <p:nvPr/>
        </p:nvSpPr>
        <p:spPr>
          <a:xfrm>
            <a:off x="8097833" y="3654126"/>
            <a:ext cx="3484277" cy="226219"/>
          </a:xfrm>
          <a:prstGeom prst="rect">
            <a:avLst/>
          </a:prstGeom>
          <a:noFill/>
          <a:ln/>
        </p:spPr>
        <p:txBody>
          <a:bodyPr wrap="none" lIns="0" tIns="0" rIns="0" bIns="0" rtlCol="0" anchor="t"/>
          <a:lstStyle/>
          <a:p>
            <a:pPr marL="0" indent="0" algn="l">
              <a:lnSpc>
                <a:spcPct val="108000"/>
              </a:lnSpc>
              <a:buNone/>
            </a:pPr>
            <a:r>
              <a:rPr lang="en-US" sz="1350" dirty="0">
                <a:solidFill>
                  <a:srgbClr val="0B2D5C"/>
                </a:solidFill>
                <a:latin typeface="Inter" pitchFamily="34" charset="0"/>
                <a:ea typeface="Inter" pitchFamily="34" charset="-122"/>
                <a:cs typeface="Inter" pitchFamily="34" charset="-120"/>
              </a:rPr>
              <a:t>Telecommunications</a:t>
            </a:r>
            <a:endParaRPr lang="en-US" sz="1350" dirty="0"/>
          </a:p>
        </p:txBody>
      </p:sp>
      <p:sp>
        <p:nvSpPr>
          <p:cNvPr id="25" name="Text 22"/>
          <p:cNvSpPr/>
          <p:nvPr/>
        </p:nvSpPr>
        <p:spPr>
          <a:xfrm>
            <a:off x="8097833" y="3953148"/>
            <a:ext cx="3484277" cy="346869"/>
          </a:xfrm>
          <a:prstGeom prst="rect">
            <a:avLst/>
          </a:prstGeom>
          <a:noFill/>
          <a:ln/>
        </p:spPr>
        <p:txBody>
          <a:bodyPr wrap="square" lIns="0" tIns="0" rIns="0" bIns="0" rtlCol="0" anchor="t">
            <a:normAutofit/>
          </a:bodyPr>
          <a:lstStyle/>
          <a:p>
            <a:pPr marL="0" indent="0" algn="l">
              <a:lnSpc>
                <a:spcPct val="108000"/>
              </a:lnSpc>
              <a:buNone/>
            </a:pPr>
            <a:r>
              <a:rPr lang="en-US" sz="1050" dirty="0">
                <a:solidFill>
                  <a:srgbClr val="1F2937"/>
                </a:solidFill>
                <a:latin typeface="Inter" pitchFamily="34" charset="0"/>
                <a:ea typeface="Inter" pitchFamily="34" charset="-122"/>
                <a:cs typeface="Inter" pitchFamily="34" charset="-120"/>
              </a:rPr>
              <a:t>Carrier modulation, channel estimation, and RF demodulation.</a:t>
            </a:r>
            <a:endParaRPr lang="en-US" sz="1050" dirty="0"/>
          </a:p>
        </p:txBody>
      </p:sp>
      <p:sp>
        <p:nvSpPr>
          <p:cNvPr id="26" name="Shape 23"/>
          <p:cNvSpPr/>
          <p:nvPr/>
        </p:nvSpPr>
        <p:spPr>
          <a:xfrm>
            <a:off x="7726368" y="4689673"/>
            <a:ext cx="244469" cy="244475"/>
          </a:xfrm>
          <a:prstGeom prst="ellipse">
            <a:avLst/>
          </a:prstGeom>
          <a:solidFill>
            <a:srgbClr val="0B2D5C"/>
          </a:solidFill>
          <a:ln w="6350">
            <a:solidFill>
              <a:srgbClr val="3463B4"/>
            </a:solidFill>
            <a:prstDash val="solid"/>
          </a:ln>
        </p:spPr>
        <p:txBody>
          <a:bodyPr/>
          <a:lstStyle/>
          <a:p>
            <a:endParaRPr lang="en-US"/>
          </a:p>
        </p:txBody>
      </p:sp>
      <p:sp>
        <p:nvSpPr>
          <p:cNvPr id="27" name="Text 24"/>
          <p:cNvSpPr/>
          <p:nvPr/>
        </p:nvSpPr>
        <p:spPr>
          <a:xfrm>
            <a:off x="7804550" y="4742061"/>
            <a:ext cx="697590" cy="139700"/>
          </a:xfrm>
          <a:prstGeom prst="rect">
            <a:avLst/>
          </a:prstGeom>
          <a:noFill/>
          <a:ln/>
        </p:spPr>
        <p:txBody>
          <a:bodyPr wrap="none" lIns="0" tIns="0" rIns="0" bIns="0" rtlCol="0" anchor="t"/>
          <a:lstStyle/>
          <a:p>
            <a:pPr marL="0" indent="0" algn="l">
              <a:lnSpc>
                <a:spcPct val="83000"/>
              </a:lnSpc>
              <a:buNone/>
            </a:pPr>
            <a:r>
              <a:rPr lang="en-US" sz="1100" b="1" dirty="0">
                <a:solidFill>
                  <a:srgbClr val="FFFFFF"/>
                </a:solidFill>
                <a:latin typeface="Inter Bold" pitchFamily="34" charset="0"/>
                <a:ea typeface="Inter Bold" pitchFamily="34" charset="-122"/>
                <a:cs typeface="Inter Bold" pitchFamily="34" charset="-120"/>
              </a:rPr>
              <a:t>2</a:t>
            </a:r>
            <a:endParaRPr lang="en-US" sz="1100" dirty="0"/>
          </a:p>
        </p:txBody>
      </p:sp>
      <p:sp>
        <p:nvSpPr>
          <p:cNvPr id="28" name="Text 25"/>
          <p:cNvSpPr/>
          <p:nvPr/>
        </p:nvSpPr>
        <p:spPr>
          <a:xfrm>
            <a:off x="8097833" y="4701380"/>
            <a:ext cx="3484277" cy="226219"/>
          </a:xfrm>
          <a:prstGeom prst="rect">
            <a:avLst/>
          </a:prstGeom>
          <a:noFill/>
          <a:ln/>
        </p:spPr>
        <p:txBody>
          <a:bodyPr wrap="none" lIns="0" tIns="0" rIns="0" bIns="0" rtlCol="0" anchor="t"/>
          <a:lstStyle/>
          <a:p>
            <a:pPr marL="0" indent="0" algn="l">
              <a:lnSpc>
                <a:spcPct val="108000"/>
              </a:lnSpc>
              <a:buNone/>
            </a:pPr>
            <a:r>
              <a:rPr lang="en-US" sz="1350" dirty="0">
                <a:solidFill>
                  <a:srgbClr val="0B2D5C"/>
                </a:solidFill>
                <a:latin typeface="Inter" pitchFamily="34" charset="0"/>
                <a:ea typeface="Inter" pitchFamily="34" charset="-122"/>
                <a:cs typeface="Inter" pitchFamily="34" charset="-120"/>
              </a:rPr>
              <a:t>Audio Engineering</a:t>
            </a:r>
            <a:endParaRPr lang="en-US" sz="1350" dirty="0"/>
          </a:p>
        </p:txBody>
      </p:sp>
      <p:sp>
        <p:nvSpPr>
          <p:cNvPr id="29" name="Text 26"/>
          <p:cNvSpPr/>
          <p:nvPr/>
        </p:nvSpPr>
        <p:spPr>
          <a:xfrm>
            <a:off x="8097833" y="5000402"/>
            <a:ext cx="3484277" cy="173434"/>
          </a:xfrm>
          <a:prstGeom prst="rect">
            <a:avLst/>
          </a:prstGeom>
          <a:noFill/>
          <a:ln/>
        </p:spPr>
        <p:txBody>
          <a:bodyPr wrap="none" lIns="0" tIns="0" rIns="0" bIns="0" rtlCol="0" anchor="t"/>
          <a:lstStyle/>
          <a:p>
            <a:pPr marL="0" indent="0" algn="l">
              <a:lnSpc>
                <a:spcPct val="108000"/>
              </a:lnSpc>
              <a:buNone/>
            </a:pPr>
            <a:r>
              <a:rPr lang="en-US" sz="1050" dirty="0">
                <a:solidFill>
                  <a:srgbClr val="1F2937"/>
                </a:solidFill>
                <a:latin typeface="Inter" pitchFamily="34" charset="0"/>
                <a:ea typeface="Inter" pitchFamily="34" charset="-122"/>
                <a:cs typeface="Inter" pitchFamily="34" charset="-120"/>
              </a:rPr>
              <a:t>Echo cancellation, equalization, and speech synthesis.</a:t>
            </a:r>
            <a:endParaRPr lang="en-US" sz="1050" dirty="0"/>
          </a:p>
        </p:txBody>
      </p:sp>
      <p:sp>
        <p:nvSpPr>
          <p:cNvPr id="30" name="Shape 27"/>
          <p:cNvSpPr/>
          <p:nvPr/>
        </p:nvSpPr>
        <p:spPr>
          <a:xfrm>
            <a:off x="7726368" y="5563592"/>
            <a:ext cx="244469" cy="244475"/>
          </a:xfrm>
          <a:prstGeom prst="ellipse">
            <a:avLst/>
          </a:prstGeom>
          <a:solidFill>
            <a:srgbClr val="0B2D5C"/>
          </a:solidFill>
          <a:ln w="6350">
            <a:solidFill>
              <a:srgbClr val="3463B4"/>
            </a:solidFill>
            <a:prstDash val="solid"/>
          </a:ln>
        </p:spPr>
        <p:txBody>
          <a:bodyPr/>
          <a:lstStyle/>
          <a:p>
            <a:endParaRPr lang="en-US"/>
          </a:p>
        </p:txBody>
      </p:sp>
      <p:sp>
        <p:nvSpPr>
          <p:cNvPr id="31" name="Text 28"/>
          <p:cNvSpPr/>
          <p:nvPr/>
        </p:nvSpPr>
        <p:spPr>
          <a:xfrm>
            <a:off x="7803459" y="5615980"/>
            <a:ext cx="699772" cy="139700"/>
          </a:xfrm>
          <a:prstGeom prst="rect">
            <a:avLst/>
          </a:prstGeom>
          <a:noFill/>
          <a:ln/>
        </p:spPr>
        <p:txBody>
          <a:bodyPr wrap="none" lIns="0" tIns="0" rIns="0" bIns="0" rtlCol="0" anchor="t"/>
          <a:lstStyle/>
          <a:p>
            <a:pPr marL="0" indent="0" algn="l">
              <a:lnSpc>
                <a:spcPct val="83000"/>
              </a:lnSpc>
              <a:buNone/>
            </a:pPr>
            <a:r>
              <a:rPr lang="en-US" sz="1100" b="1" dirty="0">
                <a:solidFill>
                  <a:srgbClr val="FFFFFF"/>
                </a:solidFill>
                <a:latin typeface="Inter Bold" pitchFamily="34" charset="0"/>
                <a:ea typeface="Inter Bold" pitchFamily="34" charset="-122"/>
                <a:cs typeface="Inter Bold" pitchFamily="34" charset="-120"/>
              </a:rPr>
              <a:t>3</a:t>
            </a:r>
            <a:endParaRPr lang="en-US" sz="1100" dirty="0"/>
          </a:p>
        </p:txBody>
      </p:sp>
      <p:sp>
        <p:nvSpPr>
          <p:cNvPr id="32" name="Text 29"/>
          <p:cNvSpPr/>
          <p:nvPr/>
        </p:nvSpPr>
        <p:spPr>
          <a:xfrm>
            <a:off x="8097833" y="5575299"/>
            <a:ext cx="3484277" cy="226219"/>
          </a:xfrm>
          <a:prstGeom prst="rect">
            <a:avLst/>
          </a:prstGeom>
          <a:noFill/>
          <a:ln/>
        </p:spPr>
        <p:txBody>
          <a:bodyPr wrap="none" lIns="0" tIns="0" rIns="0" bIns="0" rtlCol="0" anchor="t"/>
          <a:lstStyle/>
          <a:p>
            <a:pPr marL="0" indent="0" algn="l">
              <a:lnSpc>
                <a:spcPct val="108000"/>
              </a:lnSpc>
              <a:buNone/>
            </a:pPr>
            <a:r>
              <a:rPr lang="en-US" sz="1350" dirty="0">
                <a:solidFill>
                  <a:srgbClr val="0B2D5C"/>
                </a:solidFill>
                <a:latin typeface="Inter" pitchFamily="34" charset="0"/>
                <a:ea typeface="Inter" pitchFamily="34" charset="-122"/>
                <a:cs typeface="Inter" pitchFamily="34" charset="-120"/>
              </a:rPr>
              <a:t>Radar &amp; Sonar</a:t>
            </a:r>
            <a:endParaRPr lang="en-US" sz="1350" dirty="0"/>
          </a:p>
        </p:txBody>
      </p:sp>
      <p:sp>
        <p:nvSpPr>
          <p:cNvPr id="33" name="Text 30"/>
          <p:cNvSpPr/>
          <p:nvPr/>
        </p:nvSpPr>
        <p:spPr>
          <a:xfrm>
            <a:off x="8097833" y="5874321"/>
            <a:ext cx="3484277" cy="346869"/>
          </a:xfrm>
          <a:prstGeom prst="rect">
            <a:avLst/>
          </a:prstGeom>
          <a:noFill/>
          <a:ln/>
        </p:spPr>
        <p:txBody>
          <a:bodyPr wrap="square" lIns="0" tIns="0" rIns="0" bIns="0" rtlCol="0" anchor="t">
            <a:normAutofit/>
          </a:bodyPr>
          <a:lstStyle/>
          <a:p>
            <a:pPr marL="0" indent="0" algn="l">
              <a:lnSpc>
                <a:spcPct val="108000"/>
              </a:lnSpc>
              <a:buNone/>
            </a:pPr>
            <a:r>
              <a:rPr lang="en-US" sz="1050" dirty="0">
                <a:solidFill>
                  <a:srgbClr val="1F2937"/>
                </a:solidFill>
                <a:latin typeface="Inter" pitchFamily="34" charset="0"/>
                <a:ea typeface="Inter" pitchFamily="34" charset="-122"/>
                <a:cs typeface="Inter" pitchFamily="34" charset="-120"/>
              </a:rPr>
              <a:t>Doppler frequency shift extraction and target distance profiling.</a:t>
            </a:r>
            <a:endParaRPr lang="en-US" sz="1050" dirty="0"/>
          </a:p>
        </p:txBody>
      </p:sp>
      <p:sp>
        <p:nvSpPr>
          <p:cNvPr id="34" name="Shape 31"/>
          <p:cNvSpPr/>
          <p:nvPr/>
        </p:nvSpPr>
        <p:spPr>
          <a:xfrm>
            <a:off x="0" y="6223000"/>
            <a:ext cx="12191695" cy="9525"/>
          </a:xfrm>
          <a:prstGeom prst="rect">
            <a:avLst/>
          </a:prstGeom>
          <a:solidFill>
            <a:srgbClr val="1F2937">
              <a:alpha val="20000"/>
            </a:srgbClr>
          </a:solidFill>
          <a:ln/>
        </p:spPr>
        <p:txBody>
          <a:bodyPr/>
          <a:lstStyle/>
          <a:p>
            <a:endParaRPr lang="en-US"/>
          </a:p>
        </p:txBody>
      </p:sp>
      <p:sp>
        <p:nvSpPr>
          <p:cNvPr id="35" name="Text 32"/>
          <p:cNvSpPr/>
          <p:nvPr/>
        </p:nvSpPr>
        <p:spPr>
          <a:xfrm>
            <a:off x="11944250" y="6452989"/>
            <a:ext cx="247445" cy="174923"/>
          </a:xfrm>
          <a:prstGeom prst="rect">
            <a:avLst/>
          </a:prstGeom>
          <a:noFill/>
          <a:ln/>
        </p:spPr>
        <p:txBody>
          <a:bodyPr wrap="none" lIns="0" tIns="0" rIns="0" bIns="0" rtlCol="0" anchor="ctr"/>
          <a:lstStyle/>
          <a:p>
            <a:pPr marL="0" indent="0" algn="l">
              <a:lnSpc>
                <a:spcPct val="121000"/>
              </a:lnSpc>
              <a:buNone/>
            </a:pPr>
            <a:r>
              <a:rPr lang="en-US" sz="950" dirty="0">
                <a:solidFill>
                  <a:srgbClr val="1F2937"/>
                </a:solidFill>
                <a:latin typeface="Inter" pitchFamily="34" charset="0"/>
                <a:ea typeface="Inter" pitchFamily="34" charset="-122"/>
                <a:cs typeface="Inter" pitchFamily="34" charset="-120"/>
              </a:rPr>
              <a:t>6</a:t>
            </a:r>
            <a:endParaRPr lang="en-US" sz="950" dirty="0"/>
          </a:p>
        </p:txBody>
      </p:sp>
      <p:sp>
        <p:nvSpPr>
          <p:cNvPr id="36" name="Shape 33"/>
          <p:cNvSpPr/>
          <p:nvPr/>
        </p:nvSpPr>
        <p:spPr>
          <a:xfrm>
            <a:off x="7726368" y="4530923"/>
            <a:ext cx="3855743" cy="12700"/>
          </a:xfrm>
          <a:prstGeom prst="rect">
            <a:avLst/>
          </a:prstGeom>
          <a:solidFill>
            <a:srgbClr val="0B2D5C"/>
          </a:solidFill>
          <a:ln/>
        </p:spPr>
        <p:txBody>
          <a:bodyPr/>
          <a:lstStyle/>
          <a:p>
            <a:endParaRPr lang="en-US"/>
          </a:p>
        </p:txBody>
      </p:sp>
      <p:sp>
        <p:nvSpPr>
          <p:cNvPr id="37" name="Shape 34"/>
          <p:cNvSpPr/>
          <p:nvPr/>
        </p:nvSpPr>
        <p:spPr>
          <a:xfrm>
            <a:off x="7726368" y="5404842"/>
            <a:ext cx="3855743" cy="12700"/>
          </a:xfrm>
          <a:prstGeom prst="rect">
            <a:avLst/>
          </a:prstGeom>
          <a:solidFill>
            <a:srgbClr val="0B2D5C"/>
          </a:solidFill>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619919"/>
            <a:ext cx="11582110" cy="206375"/>
          </a:xfrm>
          <a:prstGeom prst="rect">
            <a:avLst/>
          </a:prstGeom>
          <a:noFill/>
          <a:ln/>
        </p:spPr>
        <p:txBody>
          <a:bodyPr wrap="none" lIns="0" tIns="0" rIns="0" bIns="0" rtlCol="0" anchor="t"/>
          <a:lstStyle/>
          <a:p>
            <a:pPr marL="0" indent="0" algn="l">
              <a:lnSpc>
                <a:spcPct val="104000"/>
              </a:lnSpc>
              <a:buNone/>
            </a:pPr>
            <a:r>
              <a:rPr lang="en-US" sz="1300" b="1" kern="100" spc="13" dirty="0">
                <a:solidFill>
                  <a:srgbClr val="0B2D5C"/>
                </a:solidFill>
                <a:latin typeface="Inter Bold" pitchFamily="34" charset="0"/>
                <a:ea typeface="Inter Bold" pitchFamily="34" charset="-122"/>
                <a:cs typeface="Inter Bold" pitchFamily="34" charset="-120"/>
              </a:rPr>
              <a:t>IMAGE PROCESSING &amp; COMPUTER VISION</a:t>
            </a:r>
            <a:endParaRPr lang="en-US" sz="1300" dirty="0"/>
          </a:p>
        </p:txBody>
      </p:sp>
      <p:sp>
        <p:nvSpPr>
          <p:cNvPr id="3" name="Text 1"/>
          <p:cNvSpPr/>
          <p:nvPr/>
        </p:nvSpPr>
        <p:spPr>
          <a:xfrm>
            <a:off x="609585" y="909129"/>
            <a:ext cx="10972526" cy="474960"/>
          </a:xfrm>
          <a:prstGeom prst="rect">
            <a:avLst/>
          </a:prstGeom>
          <a:noFill/>
          <a:ln/>
        </p:spPr>
        <p:txBody>
          <a:bodyPr wrap="none" lIns="0" tIns="0" rIns="0" bIns="0" rtlCol="0" anchor="t"/>
          <a:lstStyle/>
          <a:p>
            <a:pPr marL="0" indent="0" algn="l">
              <a:lnSpc>
                <a:spcPct val="92000"/>
              </a:lnSpc>
              <a:buNone/>
            </a:pPr>
            <a:r>
              <a:rPr lang="en-US" sz="3400" kern="100" spc="-17" dirty="0">
                <a:solidFill>
                  <a:srgbClr val="0B2D5C"/>
                </a:solidFill>
                <a:latin typeface="Inter ExtraBold" pitchFamily="34" charset="0"/>
                <a:ea typeface="Inter ExtraBold" pitchFamily="34" charset="-122"/>
                <a:cs typeface="Inter ExtraBold" pitchFamily="34" charset="-120"/>
              </a:rPr>
              <a:t>Images Become Measurable Data</a:t>
            </a:r>
            <a:endParaRPr lang="en-US" sz="3400" dirty="0"/>
          </a:p>
        </p:txBody>
      </p:sp>
      <p:sp>
        <p:nvSpPr>
          <p:cNvPr id="4" name="Text 2"/>
          <p:cNvSpPr/>
          <p:nvPr/>
        </p:nvSpPr>
        <p:spPr>
          <a:xfrm>
            <a:off x="609585" y="1529060"/>
            <a:ext cx="11582110" cy="276225"/>
          </a:xfrm>
          <a:prstGeom prst="rect">
            <a:avLst/>
          </a:prstGeom>
          <a:noFill/>
          <a:ln/>
        </p:spPr>
        <p:txBody>
          <a:bodyPr wrap="none" lIns="0" tIns="0" rIns="0" bIns="0" rtlCol="0" anchor="t"/>
          <a:lstStyle/>
          <a:p>
            <a:pPr marL="0" indent="0" algn="l">
              <a:lnSpc>
                <a:spcPct val="121000"/>
              </a:lnSpc>
              <a:buNone/>
            </a:pPr>
            <a:r>
              <a:rPr lang="en-US" sz="1500" dirty="0">
                <a:solidFill>
                  <a:srgbClr val="1F2937"/>
                </a:solidFill>
                <a:latin typeface="Inter" pitchFamily="34" charset="0"/>
                <a:ea typeface="Inter" pitchFamily="34" charset="-122"/>
                <a:cs typeface="Inter" pitchFamily="34" charset="-120"/>
              </a:rPr>
              <a:t>MATLAB represents images as pixel-intensity matrices, so visual data can be analyzed numerically.</a:t>
            </a:r>
            <a:endParaRPr lang="en-US" sz="1500" dirty="0"/>
          </a:p>
        </p:txBody>
      </p:sp>
      <p:sp>
        <p:nvSpPr>
          <p:cNvPr id="5" name="Shape 3"/>
          <p:cNvSpPr/>
          <p:nvPr/>
        </p:nvSpPr>
        <p:spPr>
          <a:xfrm>
            <a:off x="609585" y="1957685"/>
            <a:ext cx="4267093" cy="2478088"/>
          </a:xfrm>
          <a:prstGeom prst="rect">
            <a:avLst/>
          </a:prstGeom>
          <a:solidFill>
            <a:srgbClr val="FFFFFF"/>
          </a:solidFill>
          <a:ln w="12700">
            <a:solidFill>
              <a:srgbClr val="0B2D5C"/>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698483" y="2046585"/>
            <a:ext cx="4089298" cy="2300288"/>
          </a:xfrm>
          <a:prstGeom prst="rect">
            <a:avLst/>
          </a:prstGeom>
        </p:spPr>
      </p:pic>
      <p:sp>
        <p:nvSpPr>
          <p:cNvPr id="7" name="Text 4"/>
          <p:cNvSpPr/>
          <p:nvPr/>
        </p:nvSpPr>
        <p:spPr>
          <a:xfrm>
            <a:off x="609585" y="4508718"/>
            <a:ext cx="4267093" cy="394295"/>
          </a:xfrm>
          <a:prstGeom prst="rect">
            <a:avLst/>
          </a:prstGeom>
          <a:noFill/>
          <a:ln/>
        </p:spPr>
        <p:txBody>
          <a:bodyPr wrap="square" lIns="0" tIns="0" rIns="0" bIns="0" rtlCol="0" anchor="t">
            <a:normAutofit/>
          </a:bodyPr>
          <a:lstStyle/>
          <a:p>
            <a:pPr marL="0" indent="0" algn="l">
              <a:lnSpc>
                <a:spcPct val="113000"/>
              </a:lnSpc>
              <a:buNone/>
            </a:pPr>
            <a:r>
              <a:rPr lang="en-US" sz="1150" kern="100" spc="6" dirty="0">
                <a:solidFill>
                  <a:srgbClr val="5B6B7A"/>
                </a:solidFill>
                <a:latin typeface="Inter Medium" pitchFamily="34" charset="0"/>
                <a:ea typeface="Inter Medium" pitchFamily="34" charset="-122"/>
                <a:cs typeface="Inter Medium" pitchFamily="34" charset="-120"/>
              </a:rPr>
              <a:t>Fig. 7.1 Medical CT imaging analysis: grayscale scan matrix and segmented boundary map</a:t>
            </a:r>
            <a:endParaRPr lang="en-US" sz="1150" dirty="0"/>
          </a:p>
        </p:txBody>
      </p:sp>
      <p:sp>
        <p:nvSpPr>
          <p:cNvPr id="8" name="Shape 5"/>
          <p:cNvSpPr/>
          <p:nvPr/>
        </p:nvSpPr>
        <p:spPr>
          <a:xfrm>
            <a:off x="609585" y="4998343"/>
            <a:ext cx="4267093" cy="1197372"/>
          </a:xfrm>
          <a:prstGeom prst="rect">
            <a:avLst/>
          </a:prstGeom>
          <a:solidFill>
            <a:srgbClr val="EDF6FC"/>
          </a:solidFill>
          <a:ln/>
        </p:spPr>
        <p:txBody>
          <a:bodyPr/>
          <a:lstStyle/>
          <a:p>
            <a:endParaRPr lang="en-US"/>
          </a:p>
        </p:txBody>
      </p:sp>
      <p:sp>
        <p:nvSpPr>
          <p:cNvPr id="9" name="Text 6"/>
          <p:cNvSpPr/>
          <p:nvPr/>
        </p:nvSpPr>
        <p:spPr>
          <a:xfrm>
            <a:off x="736582" y="5099943"/>
            <a:ext cx="4013100" cy="994172"/>
          </a:xfrm>
          <a:prstGeom prst="rect">
            <a:avLst/>
          </a:prstGeom>
          <a:noFill/>
          <a:ln/>
        </p:spPr>
        <p:txBody>
          <a:bodyPr wrap="square" lIns="0" tIns="0" rIns="0" bIns="0" rtlCol="0" anchor="t">
            <a:normAutofit/>
          </a:bodyPr>
          <a:lstStyle/>
          <a:p>
            <a:pPr marL="0" indent="0" algn="l">
              <a:lnSpc>
                <a:spcPct val="121000"/>
              </a:lnSpc>
              <a:buNone/>
            </a:pPr>
            <a:r>
              <a:rPr lang="en-US" sz="1350" b="1" dirty="0">
                <a:solidFill>
                  <a:srgbClr val="000000"/>
                </a:solidFill>
                <a:latin typeface="Inter Bold" pitchFamily="34" charset="0"/>
                <a:ea typeface="Inter Bold" pitchFamily="34" charset="-122"/>
                <a:cs typeface="Inter Bold" pitchFamily="34" charset="-120"/>
              </a:rPr>
              <a:t>Applications:</a:t>
            </a:r>
            <a:r>
              <a:rPr lang="en-US" sz="1350" dirty="0">
                <a:solidFill>
                  <a:srgbClr val="000000"/>
                </a:solidFill>
                <a:latin typeface="Inter" pitchFamily="34" charset="0"/>
                <a:ea typeface="Inter" pitchFamily="34" charset="-122"/>
                <a:cs typeface="Inter" pitchFamily="34" charset="-120"/>
              </a:rPr>
              <a:t> medical-imaging research, industrial inspection, and computer vision. </a:t>
            </a:r>
            <a:r>
              <a:rPr lang="en-US" sz="1350" b="1" dirty="0">
                <a:solidFill>
                  <a:srgbClr val="000000"/>
                </a:solidFill>
                <a:latin typeface="Inter Bold" pitchFamily="34" charset="0"/>
                <a:ea typeface="Inter Bold" pitchFamily="34" charset="-122"/>
                <a:cs typeface="Inter Bold" pitchFamily="34" charset="-120"/>
              </a:rPr>
              <a:t>Scope:</a:t>
            </a:r>
            <a:r>
              <a:rPr lang="en-US" sz="1350" dirty="0">
                <a:solidFill>
                  <a:srgbClr val="000000"/>
                </a:solidFill>
                <a:latin typeface="Inter" pitchFamily="34" charset="0"/>
                <a:ea typeface="Inter" pitchFamily="34" charset="-122"/>
                <a:cs typeface="Inter" pitchFamily="34" charset="-120"/>
              </a:rPr>
              <a:t> research and analysis support, not a clinically validated diagnosis.</a:t>
            </a:r>
            <a:endParaRPr lang="en-US" sz="1350" dirty="0"/>
          </a:p>
        </p:txBody>
      </p:sp>
      <p:sp>
        <p:nvSpPr>
          <p:cNvPr id="10" name="Text 7"/>
          <p:cNvSpPr/>
          <p:nvPr/>
        </p:nvSpPr>
        <p:spPr>
          <a:xfrm>
            <a:off x="5181371" y="1966416"/>
            <a:ext cx="3047924" cy="288925"/>
          </a:xfrm>
          <a:prstGeom prst="rect">
            <a:avLst/>
          </a:prstGeom>
          <a:noFill/>
          <a:ln/>
        </p:spPr>
        <p:txBody>
          <a:bodyPr wrap="none" lIns="0" tIns="0" rIns="0" bIns="0" rtlCol="0" anchor="t"/>
          <a:lstStyle/>
          <a:p>
            <a:pPr marL="0" indent="0" algn="l">
              <a:lnSpc>
                <a:spcPct val="108000"/>
              </a:lnSpc>
              <a:buNone/>
            </a:pPr>
            <a:r>
              <a:rPr lang="en-US" sz="1750" dirty="0">
                <a:solidFill>
                  <a:srgbClr val="0B2D5C"/>
                </a:solidFill>
                <a:latin typeface="Inter" pitchFamily="34" charset="0"/>
                <a:ea typeface="Inter" pitchFamily="34" charset="-122"/>
                <a:cs typeface="Inter" pitchFamily="34" charset="-120"/>
              </a:rPr>
              <a:t>Read &amp; display</a:t>
            </a:r>
            <a:endParaRPr lang="en-US" sz="1750" dirty="0"/>
          </a:p>
        </p:txBody>
      </p:sp>
      <p:sp>
        <p:nvSpPr>
          <p:cNvPr id="11" name="Text 8"/>
          <p:cNvSpPr/>
          <p:nvPr/>
        </p:nvSpPr>
        <p:spPr>
          <a:xfrm>
            <a:off x="5181371" y="2367260"/>
            <a:ext cx="3047924" cy="1104900"/>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1F2937"/>
                </a:solidFill>
                <a:latin typeface="Inter" pitchFamily="34" charset="0"/>
                <a:ea typeface="Inter" pitchFamily="34" charset="-122"/>
                <a:cs typeface="Inter" pitchFamily="34" charset="-120"/>
              </a:rPr>
              <a:t>Read, display, and manipulate grayscale images as 2D intensity matrices or color images as 3D RGB arrays.</a:t>
            </a:r>
            <a:endParaRPr lang="en-US" sz="1500" dirty="0"/>
          </a:p>
        </p:txBody>
      </p:sp>
      <p:sp>
        <p:nvSpPr>
          <p:cNvPr id="12" name="Text 9"/>
          <p:cNvSpPr/>
          <p:nvPr/>
        </p:nvSpPr>
        <p:spPr>
          <a:xfrm>
            <a:off x="8534087" y="1966416"/>
            <a:ext cx="3048023" cy="288925"/>
          </a:xfrm>
          <a:prstGeom prst="rect">
            <a:avLst/>
          </a:prstGeom>
          <a:noFill/>
          <a:ln/>
        </p:spPr>
        <p:txBody>
          <a:bodyPr wrap="none" lIns="0" tIns="0" rIns="0" bIns="0" rtlCol="0" anchor="t"/>
          <a:lstStyle/>
          <a:p>
            <a:pPr marL="0" indent="0" algn="l">
              <a:lnSpc>
                <a:spcPct val="108000"/>
              </a:lnSpc>
              <a:buNone/>
            </a:pPr>
            <a:r>
              <a:rPr lang="en-US" sz="1750" dirty="0">
                <a:solidFill>
                  <a:srgbClr val="0B2D5C"/>
                </a:solidFill>
                <a:latin typeface="Inter" pitchFamily="34" charset="0"/>
                <a:ea typeface="Inter" pitchFamily="34" charset="-122"/>
                <a:cs typeface="Inter" pitchFamily="34" charset="-120"/>
              </a:rPr>
              <a:t>Enhance</a:t>
            </a:r>
            <a:endParaRPr lang="en-US" sz="1750" dirty="0"/>
          </a:p>
        </p:txBody>
      </p:sp>
      <p:sp>
        <p:nvSpPr>
          <p:cNvPr id="13" name="Text 10"/>
          <p:cNvSpPr/>
          <p:nvPr/>
        </p:nvSpPr>
        <p:spPr>
          <a:xfrm>
            <a:off x="8534087" y="2367260"/>
            <a:ext cx="3048023" cy="835025"/>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1F2937"/>
                </a:solidFill>
                <a:latin typeface="Inter" pitchFamily="34" charset="0"/>
                <a:ea typeface="Inter" pitchFamily="34" charset="-122"/>
                <a:cs typeface="Inter" pitchFamily="34" charset="-120"/>
              </a:rPr>
              <a:t>Reduce noise and enhance image quality with Gaussian or median filtering (</a:t>
            </a:r>
            <a:r>
              <a:rPr lang="en-US" sz="1500" dirty="0">
                <a:solidFill>
                  <a:srgbClr val="1F2937"/>
                </a:solidFill>
                <a:latin typeface="Consolas" pitchFamily="34" charset="0"/>
                <a:ea typeface="Consolas" pitchFamily="34" charset="-122"/>
                <a:cs typeface="Consolas" pitchFamily="34" charset="-120"/>
              </a:rPr>
              <a:t>medfilt2()</a:t>
            </a:r>
            <a:r>
              <a:rPr lang="en-US" sz="1500" dirty="0">
                <a:solidFill>
                  <a:srgbClr val="1F2937"/>
                </a:solidFill>
                <a:latin typeface="Inter" pitchFamily="34" charset="0"/>
                <a:ea typeface="Inter" pitchFamily="34" charset="-122"/>
                <a:cs typeface="Inter" pitchFamily="34" charset="-120"/>
              </a:rPr>
              <a:t>).</a:t>
            </a:r>
            <a:endParaRPr lang="en-US" sz="1500" dirty="0"/>
          </a:p>
        </p:txBody>
      </p:sp>
      <p:sp>
        <p:nvSpPr>
          <p:cNvPr id="14" name="Text 11"/>
          <p:cNvSpPr/>
          <p:nvPr/>
        </p:nvSpPr>
        <p:spPr>
          <a:xfrm>
            <a:off x="5181371" y="4251424"/>
            <a:ext cx="3047924" cy="288925"/>
          </a:xfrm>
          <a:prstGeom prst="rect">
            <a:avLst/>
          </a:prstGeom>
          <a:noFill/>
          <a:ln/>
        </p:spPr>
        <p:txBody>
          <a:bodyPr wrap="none" lIns="0" tIns="0" rIns="0" bIns="0" rtlCol="0" anchor="t"/>
          <a:lstStyle/>
          <a:p>
            <a:pPr marL="0" indent="0" algn="l">
              <a:lnSpc>
                <a:spcPct val="108000"/>
              </a:lnSpc>
              <a:buNone/>
            </a:pPr>
            <a:r>
              <a:rPr lang="en-US" sz="1750" dirty="0">
                <a:solidFill>
                  <a:srgbClr val="0B2D5C"/>
                </a:solidFill>
                <a:latin typeface="Inter" pitchFamily="34" charset="0"/>
                <a:ea typeface="Inter" pitchFamily="34" charset="-122"/>
                <a:cs typeface="Inter" pitchFamily="34" charset="-120"/>
              </a:rPr>
              <a:t>Edges &amp; regions</a:t>
            </a:r>
            <a:endParaRPr lang="en-US" sz="1750" dirty="0"/>
          </a:p>
        </p:txBody>
      </p:sp>
      <p:sp>
        <p:nvSpPr>
          <p:cNvPr id="15" name="Text 12"/>
          <p:cNvSpPr/>
          <p:nvPr/>
        </p:nvSpPr>
        <p:spPr>
          <a:xfrm>
            <a:off x="5181371" y="4652268"/>
            <a:ext cx="3047924" cy="1111250"/>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1F2937"/>
                </a:solidFill>
                <a:latin typeface="Inter" pitchFamily="34" charset="0"/>
                <a:ea typeface="Inter" pitchFamily="34" charset="-122"/>
                <a:cs typeface="Inter" pitchFamily="34" charset="-120"/>
              </a:rPr>
              <a:t>Detect edges with Sobel or Canny (</a:t>
            </a:r>
            <a:r>
              <a:rPr lang="en-US" sz="1500" dirty="0">
                <a:solidFill>
                  <a:srgbClr val="1F2937"/>
                </a:solidFill>
                <a:latin typeface="Consolas" pitchFamily="34" charset="0"/>
                <a:ea typeface="Consolas" pitchFamily="34" charset="-122"/>
                <a:cs typeface="Consolas" pitchFamily="34" charset="-120"/>
              </a:rPr>
              <a:t>edge(I, 'Canny')</a:t>
            </a:r>
            <a:r>
              <a:rPr lang="en-US" sz="1500" dirty="0">
                <a:solidFill>
                  <a:srgbClr val="1F2937"/>
                </a:solidFill>
                <a:latin typeface="Inter" pitchFamily="34" charset="0"/>
                <a:ea typeface="Inter" pitchFamily="34" charset="-122"/>
                <a:cs typeface="Inter" pitchFamily="34" charset="-120"/>
              </a:rPr>
              <a:t>); segment regions of interest with thresholding or watershed.</a:t>
            </a:r>
            <a:endParaRPr lang="en-US" sz="1500" dirty="0"/>
          </a:p>
        </p:txBody>
      </p:sp>
      <p:sp>
        <p:nvSpPr>
          <p:cNvPr id="16" name="Text 13"/>
          <p:cNvSpPr/>
          <p:nvPr/>
        </p:nvSpPr>
        <p:spPr>
          <a:xfrm>
            <a:off x="8534087" y="4251424"/>
            <a:ext cx="3048023" cy="288925"/>
          </a:xfrm>
          <a:prstGeom prst="rect">
            <a:avLst/>
          </a:prstGeom>
          <a:noFill/>
          <a:ln/>
        </p:spPr>
        <p:txBody>
          <a:bodyPr wrap="none" lIns="0" tIns="0" rIns="0" bIns="0" rtlCol="0" anchor="t"/>
          <a:lstStyle/>
          <a:p>
            <a:pPr marL="0" indent="0" algn="l">
              <a:lnSpc>
                <a:spcPct val="108000"/>
              </a:lnSpc>
              <a:buNone/>
            </a:pPr>
            <a:r>
              <a:rPr lang="en-US" sz="1750" dirty="0">
                <a:solidFill>
                  <a:srgbClr val="0B2D5C"/>
                </a:solidFill>
                <a:latin typeface="Inter" pitchFamily="34" charset="0"/>
                <a:ea typeface="Inter" pitchFamily="34" charset="-122"/>
                <a:cs typeface="Inter" pitchFamily="34" charset="-120"/>
              </a:rPr>
              <a:t>Extract features</a:t>
            </a:r>
            <a:endParaRPr lang="en-US" sz="1750" dirty="0"/>
          </a:p>
        </p:txBody>
      </p:sp>
      <p:sp>
        <p:nvSpPr>
          <p:cNvPr id="17" name="Text 14"/>
          <p:cNvSpPr/>
          <p:nvPr/>
        </p:nvSpPr>
        <p:spPr>
          <a:xfrm>
            <a:off x="8534087" y="4652268"/>
            <a:ext cx="3048023" cy="1111250"/>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1F2937"/>
                </a:solidFill>
                <a:latin typeface="Inter" pitchFamily="34" charset="0"/>
                <a:ea typeface="Inter" pitchFamily="34" charset="-122"/>
                <a:cs typeface="Inter" pitchFamily="34" charset="-120"/>
              </a:rPr>
              <a:t>Use </a:t>
            </a:r>
            <a:r>
              <a:rPr lang="en-US" sz="1500" dirty="0">
                <a:solidFill>
                  <a:srgbClr val="1F2937"/>
                </a:solidFill>
                <a:latin typeface="Consolas" pitchFamily="34" charset="0"/>
                <a:ea typeface="Consolas" pitchFamily="34" charset="-122"/>
                <a:cs typeface="Consolas" pitchFamily="34" charset="-120"/>
              </a:rPr>
              <a:t>regionprops()</a:t>
            </a:r>
            <a:r>
              <a:rPr lang="en-US" sz="1500" dirty="0">
                <a:solidFill>
                  <a:srgbClr val="1F2937"/>
                </a:solidFill>
                <a:latin typeface="Inter" pitchFamily="34" charset="0"/>
                <a:ea typeface="Inter" pitchFamily="34" charset="-122"/>
                <a:cs typeface="Inter" pitchFamily="34" charset="-120"/>
              </a:rPr>
              <a:t> to extract surface area, perimeter, circularity, and centroid coordinates for further analysis.</a:t>
            </a:r>
            <a:endParaRPr lang="en-US" sz="1500" dirty="0"/>
          </a:p>
        </p:txBody>
      </p:sp>
      <p:sp>
        <p:nvSpPr>
          <p:cNvPr id="18" name="Shape 15"/>
          <p:cNvSpPr/>
          <p:nvPr/>
        </p:nvSpPr>
        <p:spPr>
          <a:xfrm>
            <a:off x="0" y="6223000"/>
            <a:ext cx="12191695" cy="9525"/>
          </a:xfrm>
          <a:prstGeom prst="rect">
            <a:avLst/>
          </a:prstGeom>
          <a:solidFill>
            <a:srgbClr val="1F2937">
              <a:alpha val="20000"/>
            </a:srgbClr>
          </a:solidFill>
          <a:ln/>
        </p:spPr>
        <p:txBody>
          <a:bodyPr/>
          <a:lstStyle/>
          <a:p>
            <a:endParaRPr lang="en-US"/>
          </a:p>
        </p:txBody>
      </p:sp>
      <p:sp>
        <p:nvSpPr>
          <p:cNvPr id="19" name="Text 16"/>
          <p:cNvSpPr/>
          <p:nvPr/>
        </p:nvSpPr>
        <p:spPr>
          <a:xfrm>
            <a:off x="11950798" y="6452989"/>
            <a:ext cx="240897" cy="174923"/>
          </a:xfrm>
          <a:prstGeom prst="rect">
            <a:avLst/>
          </a:prstGeom>
          <a:noFill/>
          <a:ln/>
        </p:spPr>
        <p:txBody>
          <a:bodyPr wrap="none" lIns="0" tIns="0" rIns="0" bIns="0" rtlCol="0" anchor="ctr"/>
          <a:lstStyle/>
          <a:p>
            <a:pPr marL="0" indent="0" algn="l">
              <a:lnSpc>
                <a:spcPct val="121000"/>
              </a:lnSpc>
              <a:buNone/>
            </a:pPr>
            <a:r>
              <a:rPr lang="en-US" sz="950" dirty="0">
                <a:solidFill>
                  <a:srgbClr val="1F2937"/>
                </a:solidFill>
                <a:latin typeface="Inter" pitchFamily="34" charset="0"/>
                <a:ea typeface="Inter" pitchFamily="34" charset="-122"/>
                <a:cs typeface="Inter"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632904"/>
            <a:ext cx="10972526" cy="949920"/>
          </a:xfrm>
          <a:prstGeom prst="rect">
            <a:avLst/>
          </a:prstGeom>
          <a:noFill/>
          <a:ln/>
        </p:spPr>
        <p:txBody>
          <a:bodyPr wrap="square" lIns="0" tIns="0" rIns="0" bIns="0" rtlCol="0" anchor="t">
            <a:normAutofit lnSpcReduction="10000"/>
          </a:bodyPr>
          <a:lstStyle/>
          <a:p>
            <a:pPr marL="0" indent="0" algn="l">
              <a:lnSpc>
                <a:spcPct val="92000"/>
              </a:lnSpc>
              <a:buNone/>
            </a:pPr>
            <a:r>
              <a:rPr lang="en-US" sz="3400" kern="100" spc="-17" dirty="0">
                <a:solidFill>
                  <a:srgbClr val="0B2D5C"/>
                </a:solidFill>
                <a:latin typeface="Inter ExtraBold" pitchFamily="34" charset="0"/>
                <a:ea typeface="Inter ExtraBold" pitchFamily="34" charset="-122"/>
                <a:cs typeface="Inter ExtraBold" pitchFamily="34" charset="-120"/>
              </a:rPr>
              <a:t>Machine Learning Adds Prediction and Pattern Recognition</a:t>
            </a:r>
            <a:endParaRPr lang="en-US" sz="3400" dirty="0"/>
          </a:p>
        </p:txBody>
      </p:sp>
      <p:sp>
        <p:nvSpPr>
          <p:cNvPr id="3" name="Text 1"/>
          <p:cNvSpPr/>
          <p:nvPr/>
        </p:nvSpPr>
        <p:spPr>
          <a:xfrm>
            <a:off x="609585" y="1727795"/>
            <a:ext cx="11582110" cy="276225"/>
          </a:xfrm>
          <a:prstGeom prst="rect">
            <a:avLst/>
          </a:prstGeom>
          <a:noFill/>
          <a:ln/>
        </p:spPr>
        <p:txBody>
          <a:bodyPr wrap="none" lIns="0" tIns="0" rIns="0" bIns="0" rtlCol="0" anchor="t"/>
          <a:lstStyle/>
          <a:p>
            <a:pPr marL="0" indent="0" algn="l">
              <a:lnSpc>
                <a:spcPct val="121000"/>
              </a:lnSpc>
              <a:buNone/>
            </a:pPr>
            <a:r>
              <a:rPr lang="en-US" sz="1500" dirty="0">
                <a:solidFill>
                  <a:srgbClr val="1F2937"/>
                </a:solidFill>
                <a:latin typeface="Inter" pitchFamily="34" charset="0"/>
                <a:ea typeface="Inter" pitchFamily="34" charset="-122"/>
                <a:cs typeface="Inter" pitchFamily="34" charset="-120"/>
              </a:rPr>
              <a:t>Machine learning helps build predictive models from data.</a:t>
            </a:r>
            <a:endParaRPr lang="en-US" sz="1500" dirty="0"/>
          </a:p>
        </p:txBody>
      </p:sp>
      <p:sp>
        <p:nvSpPr>
          <p:cNvPr id="4" name="Text 2"/>
          <p:cNvSpPr/>
          <p:nvPr/>
        </p:nvSpPr>
        <p:spPr>
          <a:xfrm>
            <a:off x="609585" y="2165628"/>
            <a:ext cx="5257668" cy="363141"/>
          </a:xfrm>
          <a:prstGeom prst="rect">
            <a:avLst/>
          </a:prstGeom>
          <a:noFill/>
          <a:ln/>
        </p:spPr>
        <p:txBody>
          <a:bodyPr wrap="none" lIns="0" tIns="0" rIns="0" bIns="0" rtlCol="0" anchor="t"/>
          <a:lstStyle/>
          <a:p>
            <a:pPr marL="0" indent="0" algn="l">
              <a:lnSpc>
                <a:spcPct val="108000"/>
              </a:lnSpc>
              <a:buNone/>
            </a:pPr>
            <a:r>
              <a:rPr lang="en-US" sz="2200" dirty="0">
                <a:solidFill>
                  <a:srgbClr val="0B2D5C"/>
                </a:solidFill>
                <a:latin typeface="Inter" pitchFamily="34" charset="0"/>
                <a:ea typeface="Inter" pitchFamily="34" charset="-122"/>
                <a:cs typeface="Inter" pitchFamily="34" charset="-120"/>
              </a:rPr>
              <a:t>From data to prediction</a:t>
            </a:r>
            <a:endParaRPr lang="en-US" sz="2200" dirty="0"/>
          </a:p>
        </p:txBody>
      </p:sp>
      <p:sp>
        <p:nvSpPr>
          <p:cNvPr id="5" name="Text 3"/>
          <p:cNvSpPr/>
          <p:nvPr/>
        </p:nvSpPr>
        <p:spPr>
          <a:xfrm>
            <a:off x="609585" y="2640211"/>
            <a:ext cx="5257668" cy="2927350"/>
          </a:xfrm>
          <a:prstGeom prst="rect">
            <a:avLst/>
          </a:prstGeom>
          <a:noFill/>
          <a:ln/>
        </p:spPr>
        <p:txBody>
          <a:bodyPr wrap="square" lIns="0" tIns="0" rIns="0" bIns="0" rtlCol="0" anchor="t">
            <a:normAutofit/>
          </a:bodyPr>
          <a:lstStyle/>
          <a:p>
            <a:pPr marL="304800" indent="-304800" algn="l">
              <a:lnSpc>
                <a:spcPct val="121000"/>
              </a:lnSpc>
              <a:buSzPct val="100000"/>
              <a:buChar char="•"/>
            </a:pPr>
            <a:r>
              <a:rPr lang="en-US" sz="1500" dirty="0">
                <a:solidFill>
                  <a:srgbClr val="1F2937"/>
                </a:solidFill>
                <a:latin typeface="Inter" pitchFamily="34" charset="0"/>
                <a:ea typeface="Inter" pitchFamily="34" charset="-122"/>
                <a:cs typeface="Inter" pitchFamily="34" charset="-120"/>
              </a:rPr>
              <a:t>Prepare data and extract useful features.</a:t>
            </a:r>
            <a:endParaRPr lang="en-US" sz="1500" dirty="0"/>
          </a:p>
          <a:p>
            <a:pPr marL="304800" indent="-304800" algn="l">
              <a:lnSpc>
                <a:spcPct val="121000"/>
              </a:lnSpc>
              <a:buSzPct val="100000"/>
              <a:buChar char="•"/>
            </a:pPr>
            <a:r>
              <a:rPr lang="en-US" sz="1500" dirty="0">
                <a:solidFill>
                  <a:srgbClr val="1F2937"/>
                </a:solidFill>
                <a:latin typeface="Inter" pitchFamily="34" charset="0"/>
                <a:ea typeface="Inter" pitchFamily="34" charset="-122"/>
                <a:cs typeface="Inter" pitchFamily="34" charset="-120"/>
              </a:rPr>
              <a:t>Classification predicts a category or label; regression predicts a numerical value.</a:t>
            </a:r>
            <a:endParaRPr lang="en-US" sz="1500" dirty="0"/>
          </a:p>
          <a:p>
            <a:pPr marL="304800" indent="-304800" algn="l">
              <a:lnSpc>
                <a:spcPct val="121000"/>
              </a:lnSpc>
              <a:buSzPct val="100000"/>
              <a:buChar char="•"/>
            </a:pPr>
            <a:r>
              <a:rPr lang="en-US" sz="1500" dirty="0">
                <a:solidFill>
                  <a:srgbClr val="1F2937"/>
                </a:solidFill>
                <a:latin typeface="Inter" pitchFamily="34" charset="0"/>
                <a:ea typeface="Inter" pitchFamily="34" charset="-122"/>
                <a:cs typeface="Inter" pitchFamily="34" charset="-120"/>
              </a:rPr>
              <a:t>Train, test, and evaluate models, including neural networks and deep learning.</a:t>
            </a:r>
            <a:endParaRPr lang="en-US" sz="1500" dirty="0"/>
          </a:p>
          <a:p>
            <a:pPr marL="304800" indent="-304800" algn="l">
              <a:lnSpc>
                <a:spcPct val="121000"/>
              </a:lnSpc>
              <a:buSzPct val="100000"/>
              <a:buChar char="•"/>
            </a:pPr>
            <a:r>
              <a:rPr lang="en-US" sz="1500" dirty="0">
                <a:solidFill>
                  <a:srgbClr val="1F2937"/>
                </a:solidFill>
                <a:latin typeface="Inter" pitchFamily="34" charset="0"/>
                <a:ea typeface="Inter" pitchFamily="34" charset="-122"/>
                <a:cs typeface="Inter" pitchFamily="34" charset="-120"/>
              </a:rPr>
              <a:t>Examples: house-price prediction, image classification, and medical-image dataset research.</a:t>
            </a:r>
            <a:endParaRPr lang="en-US" sz="1500" dirty="0"/>
          </a:p>
          <a:p>
            <a:pPr marL="304800" indent="-304800" algn="l">
              <a:lnSpc>
                <a:spcPct val="121000"/>
              </a:lnSpc>
              <a:buSzPct val="100000"/>
              <a:buChar char="•"/>
            </a:pPr>
            <a:r>
              <a:rPr lang="en-US" sz="1500" dirty="0">
                <a:solidFill>
                  <a:srgbClr val="1F2937"/>
                </a:solidFill>
                <a:latin typeface="Inter" pitchFamily="34" charset="0"/>
                <a:ea typeface="Inter" pitchFamily="34" charset="-122"/>
                <a:cs typeface="Inter" pitchFamily="34" charset="-120"/>
              </a:rPr>
              <a:t>Some advanced capabilities require products such as Statistics and Machine Learning Toolbox or Deep Learning Toolbox.</a:t>
            </a:r>
            <a:endParaRPr lang="en-US" sz="1500" dirty="0"/>
          </a:p>
        </p:txBody>
      </p:sp>
      <p:sp>
        <p:nvSpPr>
          <p:cNvPr id="6" name="Text 4"/>
          <p:cNvSpPr/>
          <p:nvPr/>
        </p:nvSpPr>
        <p:spPr>
          <a:xfrm>
            <a:off x="6324442" y="2650311"/>
            <a:ext cx="5257668" cy="363141"/>
          </a:xfrm>
          <a:prstGeom prst="rect">
            <a:avLst/>
          </a:prstGeom>
          <a:noFill/>
          <a:ln/>
        </p:spPr>
        <p:txBody>
          <a:bodyPr wrap="none" lIns="0" tIns="0" rIns="0" bIns="0" rtlCol="0" anchor="t"/>
          <a:lstStyle/>
          <a:p>
            <a:pPr marL="0" indent="0" algn="l">
              <a:lnSpc>
                <a:spcPct val="108000"/>
              </a:lnSpc>
              <a:buNone/>
            </a:pPr>
            <a:r>
              <a:rPr lang="en-US" sz="2200" dirty="0">
                <a:solidFill>
                  <a:srgbClr val="0B2D5C"/>
                </a:solidFill>
                <a:latin typeface="Inter" pitchFamily="34" charset="0"/>
                <a:ea typeface="Inter" pitchFamily="34" charset="-122"/>
                <a:cs typeface="Inter" pitchFamily="34" charset="-120"/>
              </a:rPr>
              <a:t>Neural-network model</a:t>
            </a:r>
            <a:endParaRPr lang="en-US" sz="2200" dirty="0"/>
          </a:p>
        </p:txBody>
      </p:sp>
      <p:sp>
        <p:nvSpPr>
          <p:cNvPr id="7" name="Text 5"/>
          <p:cNvSpPr/>
          <p:nvPr/>
        </p:nvSpPr>
        <p:spPr>
          <a:xfrm>
            <a:off x="6324442" y="3127990"/>
            <a:ext cx="5257668" cy="197148"/>
          </a:xfrm>
          <a:prstGeom prst="rect">
            <a:avLst/>
          </a:prstGeom>
          <a:noFill/>
          <a:ln/>
        </p:spPr>
        <p:txBody>
          <a:bodyPr wrap="none" lIns="0" tIns="0" rIns="0" bIns="0" rtlCol="0" anchor="t"/>
          <a:lstStyle/>
          <a:p>
            <a:pPr marL="0" indent="0" algn="l">
              <a:lnSpc>
                <a:spcPct val="113000"/>
              </a:lnSpc>
              <a:buNone/>
            </a:pPr>
            <a:r>
              <a:rPr lang="en-US" sz="1150" kern="100" spc="6" dirty="0">
                <a:solidFill>
                  <a:srgbClr val="5B6B7A"/>
                </a:solidFill>
                <a:latin typeface="Inter Medium" pitchFamily="34" charset="0"/>
                <a:ea typeface="Inter Medium" pitchFamily="34" charset="-122"/>
                <a:cs typeface="Inter Medium" pitchFamily="34" charset="-120"/>
              </a:rPr>
              <a:t>A simple view of how features become a predicted class</a:t>
            </a:r>
            <a:endParaRPr lang="en-US" sz="1150" dirty="0"/>
          </a:p>
        </p:txBody>
      </p:sp>
      <p:sp>
        <p:nvSpPr>
          <p:cNvPr id="8" name="Shape 6"/>
          <p:cNvSpPr/>
          <p:nvPr/>
        </p:nvSpPr>
        <p:spPr>
          <a:xfrm>
            <a:off x="6324442" y="3420467"/>
            <a:ext cx="1549361" cy="1708150"/>
          </a:xfrm>
          <a:prstGeom prst="rect">
            <a:avLst/>
          </a:prstGeom>
          <a:solidFill>
            <a:srgbClr val="E6F2FA"/>
          </a:solidFill>
          <a:ln/>
        </p:spPr>
        <p:txBody>
          <a:bodyPr/>
          <a:lstStyle/>
          <a:p>
            <a:endParaRPr lang="en-US"/>
          </a:p>
        </p:txBody>
      </p:sp>
      <p:sp>
        <p:nvSpPr>
          <p:cNvPr id="9" name="Text 7"/>
          <p:cNvSpPr/>
          <p:nvPr/>
        </p:nvSpPr>
        <p:spPr>
          <a:xfrm>
            <a:off x="6553036" y="3657799"/>
            <a:ext cx="1092173" cy="577850"/>
          </a:xfrm>
          <a:prstGeom prst="rect">
            <a:avLst/>
          </a:prstGeom>
          <a:noFill/>
          <a:ln/>
        </p:spPr>
        <p:txBody>
          <a:bodyPr wrap="square" lIns="0" tIns="0" rIns="0" bIns="0" rtlCol="0" anchor="t">
            <a:normAutofit/>
          </a:bodyPr>
          <a:lstStyle/>
          <a:p>
            <a:pPr marL="0" indent="0" algn="l">
              <a:lnSpc>
                <a:spcPct val="108000"/>
              </a:lnSpc>
              <a:buNone/>
            </a:pPr>
            <a:r>
              <a:rPr lang="en-US" sz="1750" dirty="0">
                <a:solidFill>
                  <a:srgbClr val="000000"/>
                </a:solidFill>
                <a:latin typeface="Inter" pitchFamily="34" charset="0"/>
                <a:ea typeface="Inter" pitchFamily="34" charset="-122"/>
                <a:cs typeface="Inter" pitchFamily="34" charset="-120"/>
              </a:rPr>
              <a:t>Input layer</a:t>
            </a:r>
            <a:endParaRPr lang="en-US" sz="1750" dirty="0"/>
          </a:p>
        </p:txBody>
      </p:sp>
      <p:sp>
        <p:nvSpPr>
          <p:cNvPr id="10" name="Text 8"/>
          <p:cNvSpPr/>
          <p:nvPr/>
        </p:nvSpPr>
        <p:spPr>
          <a:xfrm>
            <a:off x="6553036" y="4347567"/>
            <a:ext cx="1092173" cy="552450"/>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000000"/>
                </a:solidFill>
                <a:latin typeface="Inter" pitchFamily="34" charset="0"/>
                <a:ea typeface="Inter" pitchFamily="34" charset="-122"/>
                <a:cs typeface="Inter" pitchFamily="34" charset="-120"/>
              </a:rPr>
              <a:t>Prepared features</a:t>
            </a:r>
            <a:endParaRPr lang="en-US" sz="1500" dirty="0"/>
          </a:p>
        </p:txBody>
      </p:sp>
      <p:sp>
        <p:nvSpPr>
          <p:cNvPr id="11" name="Shape 9"/>
          <p:cNvSpPr/>
          <p:nvPr/>
        </p:nvSpPr>
        <p:spPr>
          <a:xfrm>
            <a:off x="8178595" y="3420467"/>
            <a:ext cx="1549361" cy="1708150"/>
          </a:xfrm>
          <a:prstGeom prst="rect">
            <a:avLst/>
          </a:prstGeom>
          <a:solidFill>
            <a:srgbClr val="EAF4FB"/>
          </a:solidFill>
          <a:ln/>
        </p:spPr>
        <p:txBody>
          <a:bodyPr/>
          <a:lstStyle/>
          <a:p>
            <a:endParaRPr lang="en-US"/>
          </a:p>
        </p:txBody>
      </p:sp>
      <p:sp>
        <p:nvSpPr>
          <p:cNvPr id="12" name="Text 10"/>
          <p:cNvSpPr/>
          <p:nvPr/>
        </p:nvSpPr>
        <p:spPr>
          <a:xfrm>
            <a:off x="8407190" y="3657799"/>
            <a:ext cx="1092173" cy="577850"/>
          </a:xfrm>
          <a:prstGeom prst="rect">
            <a:avLst/>
          </a:prstGeom>
          <a:noFill/>
          <a:ln/>
        </p:spPr>
        <p:txBody>
          <a:bodyPr wrap="square" lIns="0" tIns="0" rIns="0" bIns="0" rtlCol="0" anchor="t">
            <a:normAutofit/>
          </a:bodyPr>
          <a:lstStyle/>
          <a:p>
            <a:pPr marL="0" indent="0" algn="l">
              <a:lnSpc>
                <a:spcPct val="108000"/>
              </a:lnSpc>
              <a:buNone/>
            </a:pPr>
            <a:r>
              <a:rPr lang="en-US" sz="1750" dirty="0">
                <a:solidFill>
                  <a:srgbClr val="000000"/>
                </a:solidFill>
                <a:latin typeface="Inter" pitchFamily="34" charset="0"/>
                <a:ea typeface="Inter" pitchFamily="34" charset="-122"/>
                <a:cs typeface="Inter" pitchFamily="34" charset="-120"/>
              </a:rPr>
              <a:t>Hidden layers</a:t>
            </a:r>
            <a:endParaRPr lang="en-US" sz="1750" dirty="0"/>
          </a:p>
        </p:txBody>
      </p:sp>
      <p:sp>
        <p:nvSpPr>
          <p:cNvPr id="13" name="Text 11"/>
          <p:cNvSpPr/>
          <p:nvPr/>
        </p:nvSpPr>
        <p:spPr>
          <a:xfrm>
            <a:off x="8407190" y="4347567"/>
            <a:ext cx="1092173" cy="552450"/>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000000"/>
                </a:solidFill>
                <a:latin typeface="Inter" pitchFamily="34" charset="0"/>
                <a:ea typeface="Inter" pitchFamily="34" charset="-122"/>
                <a:cs typeface="Inter" pitchFamily="34" charset="-120"/>
              </a:rPr>
              <a:t>Learn patterns</a:t>
            </a:r>
            <a:endParaRPr lang="en-US" sz="1500" dirty="0"/>
          </a:p>
        </p:txBody>
      </p:sp>
      <p:sp>
        <p:nvSpPr>
          <p:cNvPr id="14" name="Shape 12"/>
          <p:cNvSpPr/>
          <p:nvPr/>
        </p:nvSpPr>
        <p:spPr>
          <a:xfrm>
            <a:off x="10032749" y="3420467"/>
            <a:ext cx="1549361" cy="1708150"/>
          </a:xfrm>
          <a:prstGeom prst="rect">
            <a:avLst/>
          </a:prstGeom>
          <a:solidFill>
            <a:srgbClr val="FFF2E3"/>
          </a:solidFill>
          <a:ln/>
        </p:spPr>
        <p:txBody>
          <a:bodyPr/>
          <a:lstStyle/>
          <a:p>
            <a:endParaRPr lang="en-US"/>
          </a:p>
        </p:txBody>
      </p:sp>
      <p:sp>
        <p:nvSpPr>
          <p:cNvPr id="15" name="Text 13"/>
          <p:cNvSpPr/>
          <p:nvPr/>
        </p:nvSpPr>
        <p:spPr>
          <a:xfrm>
            <a:off x="10261343" y="3657799"/>
            <a:ext cx="1092173" cy="577850"/>
          </a:xfrm>
          <a:prstGeom prst="rect">
            <a:avLst/>
          </a:prstGeom>
          <a:noFill/>
          <a:ln/>
        </p:spPr>
        <p:txBody>
          <a:bodyPr wrap="square" lIns="0" tIns="0" rIns="0" bIns="0" rtlCol="0" anchor="t">
            <a:normAutofit/>
          </a:bodyPr>
          <a:lstStyle/>
          <a:p>
            <a:pPr marL="0" indent="0" algn="l">
              <a:lnSpc>
                <a:spcPct val="108000"/>
              </a:lnSpc>
              <a:buNone/>
            </a:pPr>
            <a:r>
              <a:rPr lang="en-US" sz="1750" dirty="0">
                <a:solidFill>
                  <a:srgbClr val="000000"/>
                </a:solidFill>
                <a:latin typeface="Inter" pitchFamily="34" charset="0"/>
                <a:ea typeface="Inter" pitchFamily="34" charset="-122"/>
                <a:cs typeface="Inter" pitchFamily="34" charset="-120"/>
              </a:rPr>
              <a:t>Output layer</a:t>
            </a:r>
            <a:endParaRPr lang="en-US" sz="1750" dirty="0"/>
          </a:p>
        </p:txBody>
      </p:sp>
      <p:sp>
        <p:nvSpPr>
          <p:cNvPr id="16" name="Text 14"/>
          <p:cNvSpPr/>
          <p:nvPr/>
        </p:nvSpPr>
        <p:spPr>
          <a:xfrm>
            <a:off x="10261343" y="4347567"/>
            <a:ext cx="1092173" cy="552450"/>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000000"/>
                </a:solidFill>
                <a:latin typeface="Inter" pitchFamily="34" charset="0"/>
                <a:ea typeface="Inter" pitchFamily="34" charset="-122"/>
                <a:cs typeface="Inter" pitchFamily="34" charset="-120"/>
              </a:rPr>
              <a:t>Predicted class</a:t>
            </a:r>
            <a:endParaRPr lang="en-US" sz="1500" dirty="0"/>
          </a:p>
        </p:txBody>
      </p:sp>
      <p:sp>
        <p:nvSpPr>
          <p:cNvPr id="17" name="Shape 15"/>
          <p:cNvSpPr/>
          <p:nvPr/>
        </p:nvSpPr>
        <p:spPr>
          <a:xfrm>
            <a:off x="0" y="6223000"/>
            <a:ext cx="12191695" cy="9525"/>
          </a:xfrm>
          <a:prstGeom prst="rect">
            <a:avLst/>
          </a:prstGeom>
          <a:solidFill>
            <a:srgbClr val="1F2937">
              <a:alpha val="20000"/>
            </a:srgbClr>
          </a:solidFill>
          <a:ln/>
        </p:spPr>
        <p:txBody>
          <a:bodyPr/>
          <a:lstStyle/>
          <a:p>
            <a:endParaRPr lang="en-US"/>
          </a:p>
        </p:txBody>
      </p:sp>
      <p:sp>
        <p:nvSpPr>
          <p:cNvPr id="18" name="Text 16"/>
          <p:cNvSpPr/>
          <p:nvPr/>
        </p:nvSpPr>
        <p:spPr>
          <a:xfrm>
            <a:off x="11944448" y="6452989"/>
            <a:ext cx="247247" cy="174923"/>
          </a:xfrm>
          <a:prstGeom prst="rect">
            <a:avLst/>
          </a:prstGeom>
          <a:noFill/>
          <a:ln/>
        </p:spPr>
        <p:txBody>
          <a:bodyPr wrap="none" lIns="0" tIns="0" rIns="0" bIns="0" rtlCol="0" anchor="ctr"/>
          <a:lstStyle/>
          <a:p>
            <a:pPr marL="0" indent="0" algn="l">
              <a:lnSpc>
                <a:spcPct val="121000"/>
              </a:lnSpc>
              <a:buNone/>
            </a:pPr>
            <a:r>
              <a:rPr lang="en-US" sz="950" dirty="0">
                <a:solidFill>
                  <a:srgbClr val="1F2937"/>
                </a:solidFill>
                <a:latin typeface="Inter" pitchFamily="34" charset="0"/>
                <a:ea typeface="Inter" pitchFamily="34" charset="-122"/>
                <a:cs typeface="Inter"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585" y="619919"/>
            <a:ext cx="11582110" cy="206375"/>
          </a:xfrm>
          <a:prstGeom prst="rect">
            <a:avLst/>
          </a:prstGeom>
          <a:noFill/>
          <a:ln/>
        </p:spPr>
        <p:txBody>
          <a:bodyPr wrap="none" lIns="0" tIns="0" rIns="0" bIns="0" rtlCol="0" anchor="t"/>
          <a:lstStyle/>
          <a:p>
            <a:pPr marL="0" indent="0" algn="l">
              <a:lnSpc>
                <a:spcPct val="104000"/>
              </a:lnSpc>
              <a:buNone/>
            </a:pPr>
            <a:r>
              <a:rPr lang="en-US" sz="1300" b="1" kern="100" spc="13" dirty="0">
                <a:solidFill>
                  <a:srgbClr val="0B2D5C"/>
                </a:solidFill>
                <a:latin typeface="Inter Bold" pitchFamily="34" charset="0"/>
                <a:ea typeface="Inter Bold" pitchFamily="34" charset="-122"/>
                <a:cs typeface="Inter Bold" pitchFamily="34" charset="-120"/>
              </a:rPr>
              <a:t>ENGINEERING PERSPECTIVE</a:t>
            </a:r>
            <a:endParaRPr lang="en-US" sz="1300" dirty="0"/>
          </a:p>
        </p:txBody>
      </p:sp>
      <p:sp>
        <p:nvSpPr>
          <p:cNvPr id="3" name="Text 1"/>
          <p:cNvSpPr/>
          <p:nvPr/>
        </p:nvSpPr>
        <p:spPr>
          <a:xfrm>
            <a:off x="609585" y="909129"/>
            <a:ext cx="10972526" cy="474960"/>
          </a:xfrm>
          <a:prstGeom prst="rect">
            <a:avLst/>
          </a:prstGeom>
          <a:noFill/>
          <a:ln/>
        </p:spPr>
        <p:txBody>
          <a:bodyPr wrap="none" lIns="0" tIns="0" rIns="0" bIns="0" rtlCol="0" anchor="t"/>
          <a:lstStyle/>
          <a:p>
            <a:pPr marL="0" indent="0" algn="l">
              <a:lnSpc>
                <a:spcPct val="92000"/>
              </a:lnSpc>
              <a:buNone/>
            </a:pPr>
            <a:r>
              <a:rPr lang="en-US" sz="3400" kern="100" spc="-17" dirty="0">
                <a:solidFill>
                  <a:srgbClr val="0B2D5C"/>
                </a:solidFill>
                <a:latin typeface="Inter ExtraBold" pitchFamily="34" charset="0"/>
                <a:ea typeface="Inter ExtraBold" pitchFamily="34" charset="-122"/>
                <a:cs typeface="Inter ExtraBold" pitchFamily="34" charset="-120"/>
              </a:rPr>
              <a:t>One Platform, Many Engineering Trade-Offs</a:t>
            </a:r>
            <a:endParaRPr lang="en-US" sz="3400" dirty="0"/>
          </a:p>
        </p:txBody>
      </p:sp>
      <p:sp>
        <p:nvSpPr>
          <p:cNvPr id="4" name="Text 2"/>
          <p:cNvSpPr/>
          <p:nvPr/>
        </p:nvSpPr>
        <p:spPr>
          <a:xfrm>
            <a:off x="609585" y="1767979"/>
            <a:ext cx="6400640" cy="206375"/>
          </a:xfrm>
          <a:prstGeom prst="rect">
            <a:avLst/>
          </a:prstGeom>
          <a:noFill/>
          <a:ln/>
        </p:spPr>
        <p:txBody>
          <a:bodyPr wrap="none" lIns="0" tIns="0" rIns="0" bIns="0" rtlCol="0" anchor="t"/>
          <a:lstStyle/>
          <a:p>
            <a:pPr marL="0" indent="0" algn="l">
              <a:lnSpc>
                <a:spcPct val="104000"/>
              </a:lnSpc>
              <a:buNone/>
            </a:pPr>
            <a:r>
              <a:rPr lang="en-US" sz="1300" b="1" kern="100" spc="13" dirty="0">
                <a:solidFill>
                  <a:srgbClr val="0B2D5C"/>
                </a:solidFill>
                <a:latin typeface="Inter Bold" pitchFamily="34" charset="0"/>
                <a:ea typeface="Inter Bold" pitchFamily="34" charset="-122"/>
                <a:cs typeface="Inter Bold" pitchFamily="34" charset="-120"/>
              </a:rPr>
              <a:t>APPLICATIONS BY DISCIPLINE</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09585" y="2062460"/>
          <a:ext cx="6400640" cy="2939977"/>
        </p:xfrm>
        <a:graphic>
          <a:graphicData uri="http://schemas.openxmlformats.org/drawingml/2006/table">
            <a:tbl>
              <a:tblPr/>
              <a:tblGrid>
                <a:gridCol w="2176210">
                  <a:extLst>
                    <a:ext uri="{9D8B030D-6E8A-4147-A177-3AD203B41FA5}">
                      <a16:colId xmlns:a16="http://schemas.microsoft.com/office/drawing/2014/main" val="20000"/>
                    </a:ext>
                  </a:extLst>
                </a:gridCol>
                <a:gridCol w="4224430">
                  <a:extLst>
                    <a:ext uri="{9D8B030D-6E8A-4147-A177-3AD203B41FA5}">
                      <a16:colId xmlns:a16="http://schemas.microsoft.com/office/drawing/2014/main" val="20001"/>
                    </a:ext>
                  </a:extLst>
                </a:gridCol>
              </a:tblGrid>
              <a:tr h="460363">
                <a:tc>
                  <a:txBody>
                    <a:bodyPr/>
                    <a:lstStyle/>
                    <a:p>
                      <a:pPr marL="0" indent="0" algn="l">
                        <a:buNone/>
                      </a:pPr>
                      <a:r>
                        <a:rPr lang="en-US" sz="1500" b="1" dirty="0">
                          <a:solidFill>
                            <a:srgbClr val="FFFFFF"/>
                          </a:solidFill>
                          <a:latin typeface="Inter" pitchFamily="34" charset="0"/>
                          <a:ea typeface="Inter" pitchFamily="34" charset="-122"/>
                          <a:cs typeface="Inter" pitchFamily="34" charset="-120"/>
                        </a:rPr>
                        <a:t>Discipline</a:t>
                      </a:r>
                      <a:endParaRPr lang="en-US" sz="1500" dirty="0">
                        <a:latin typeface="Inter" charset="0"/>
                        <a:ea typeface="Inter" charset="0"/>
                        <a:cs typeface="Inter" charset="0"/>
                      </a:endParaRPr>
                    </a:p>
                  </a:txBody>
                  <a:tcPr marL="126997" marR="126997" marT="88898" marB="88898" anchor="ctr">
                    <a:lnL w="12700" cap="flat" cmpd="sng" algn="ctr">
                      <a:solidFill>
                        <a:srgbClr val="0B2D5C"/>
                      </a:solidFill>
                      <a:prstDash val="solid"/>
                      <a:round/>
                      <a:headEnd type="none" w="med" len="med"/>
                      <a:tailEnd type="none" w="med" len="med"/>
                    </a:lnL>
                    <a:lnR w="12700" cap="flat" cmpd="sng" algn="ctr">
                      <a:solidFill>
                        <a:srgbClr val="0B2D5C"/>
                      </a:solidFill>
                      <a:prstDash val="solid"/>
                      <a:round/>
                      <a:headEnd type="none" w="med" len="med"/>
                      <a:tailEnd type="none" w="med" len="med"/>
                    </a:lnR>
                    <a:lnT w="12700" cap="flat" cmpd="sng" algn="ctr">
                      <a:solidFill>
                        <a:srgbClr val="0B2D5C"/>
                      </a:solidFill>
                      <a:prstDash val="solid"/>
                      <a:round/>
                      <a:headEnd type="none" w="med" len="med"/>
                      <a:tailEnd type="none" w="med" len="med"/>
                    </a:lnT>
                    <a:lnB w="12700" cap="flat" cmpd="sng" algn="ctr">
                      <a:solidFill>
                        <a:srgbClr val="0B2D5C"/>
                      </a:solidFill>
                      <a:prstDash val="solid"/>
                      <a:round/>
                      <a:headEnd type="none" w="med" len="med"/>
                      <a:tailEnd type="none" w="med" len="med"/>
                    </a:lnB>
                    <a:solidFill>
                      <a:srgbClr val="0B2D5C"/>
                    </a:solidFill>
                  </a:tcPr>
                </a:tc>
                <a:tc>
                  <a:txBody>
                    <a:bodyPr/>
                    <a:lstStyle/>
                    <a:p>
                      <a:pPr marL="0" indent="0" algn="l">
                        <a:buNone/>
                      </a:pPr>
                      <a:r>
                        <a:rPr lang="en-US" sz="1500" b="1" dirty="0">
                          <a:solidFill>
                            <a:srgbClr val="FFFFFF"/>
                          </a:solidFill>
                          <a:latin typeface="Inter" pitchFamily="34" charset="0"/>
                          <a:ea typeface="Inter" pitchFamily="34" charset="-122"/>
                          <a:cs typeface="Inter" pitchFamily="34" charset="-120"/>
                        </a:rPr>
                        <a:t>Example applications</a:t>
                      </a:r>
                      <a:endParaRPr lang="en-US" sz="1500" dirty="0">
                        <a:latin typeface="Inter" charset="0"/>
                        <a:ea typeface="Inter" charset="0"/>
                        <a:cs typeface="Inter" charset="0"/>
                      </a:endParaRPr>
                    </a:p>
                  </a:txBody>
                  <a:tcPr marL="126997" marR="126997" marT="88898" marB="88898" anchor="ctr">
                    <a:lnL w="12700" cap="flat" cmpd="sng" algn="ctr">
                      <a:solidFill>
                        <a:srgbClr val="0B2D5C"/>
                      </a:solidFill>
                      <a:prstDash val="solid"/>
                      <a:round/>
                      <a:headEnd type="none" w="med" len="med"/>
                      <a:tailEnd type="none" w="med" len="med"/>
                    </a:lnL>
                    <a:lnR w="12700" cap="flat" cmpd="sng" algn="ctr">
                      <a:solidFill>
                        <a:srgbClr val="0B2D5C"/>
                      </a:solidFill>
                      <a:prstDash val="solid"/>
                      <a:round/>
                      <a:headEnd type="none" w="med" len="med"/>
                      <a:tailEnd type="none" w="med" len="med"/>
                    </a:lnR>
                    <a:lnT w="12700" cap="flat" cmpd="sng" algn="ctr">
                      <a:solidFill>
                        <a:srgbClr val="0B2D5C"/>
                      </a:solidFill>
                      <a:prstDash val="solid"/>
                      <a:round/>
                      <a:headEnd type="none" w="med" len="med"/>
                      <a:tailEnd type="none" w="med" len="med"/>
                    </a:lnT>
                    <a:lnB w="12700" cap="flat" cmpd="sng" algn="ctr">
                      <a:solidFill>
                        <a:srgbClr val="0B2D5C"/>
                      </a:solidFill>
                      <a:prstDash val="solid"/>
                      <a:round/>
                      <a:headEnd type="none" w="med" len="med"/>
                      <a:tailEnd type="none" w="med" len="med"/>
                    </a:lnB>
                    <a:solidFill>
                      <a:srgbClr val="0B2D5C"/>
                    </a:solidFill>
                  </a:tcPr>
                </a:tc>
                <a:extLst>
                  <a:ext uri="{0D108BD9-81ED-4DB2-BD59-A6C34878D82A}">
                    <a16:rowId xmlns:a16="http://schemas.microsoft.com/office/drawing/2014/main" val="10000"/>
                  </a:ext>
                </a:extLst>
              </a:tr>
              <a:tr h="736582">
                <a:tc>
                  <a:txBody>
                    <a:bodyPr/>
                    <a:lstStyle/>
                    <a:p>
                      <a:pPr marL="0" indent="0" algn="l">
                        <a:buNone/>
                      </a:pPr>
                      <a:r>
                        <a:rPr lang="en-US" sz="1500" dirty="0">
                          <a:solidFill>
                            <a:srgbClr val="1F2937"/>
                          </a:solidFill>
                          <a:latin typeface="Inter" pitchFamily="34" charset="0"/>
                          <a:ea typeface="Inter" pitchFamily="34" charset="-122"/>
                          <a:cs typeface="Inter" pitchFamily="34" charset="-120"/>
                        </a:rPr>
                        <a:t>Electrical &amp; mechanical</a:t>
                      </a:r>
                      <a:endParaRPr lang="en-US" sz="1500" dirty="0">
                        <a:latin typeface="Inter" charset="0"/>
                        <a:ea typeface="Inter" charset="0"/>
                        <a:cs typeface="Inter" charset="0"/>
                      </a:endParaRPr>
                    </a:p>
                  </a:txBody>
                  <a:tcPr marL="126997" marR="126997" marT="88898" marB="888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B2D5C"/>
                      </a:solidFill>
                      <a:prstDash val="solid"/>
                      <a:round/>
                      <a:headEnd type="none" w="med" len="med"/>
                      <a:tailEnd type="none" w="med" len="med"/>
                    </a:lnT>
                    <a:lnB w="12700" cap="flat" cmpd="sng" algn="ctr">
                      <a:solidFill>
                        <a:srgbClr val="0B2D5C"/>
                      </a:solidFill>
                      <a:prstDash val="solid"/>
                      <a:round/>
                      <a:headEnd type="none" w="med" len="med"/>
                      <a:tailEnd type="none" w="med" len="med"/>
                    </a:lnB>
                  </a:tcPr>
                </a:tc>
                <a:tc>
                  <a:txBody>
                    <a:bodyPr/>
                    <a:lstStyle/>
                    <a:p>
                      <a:pPr marL="0" indent="0" algn="l">
                        <a:buNone/>
                      </a:pPr>
                      <a:r>
                        <a:rPr lang="en-US" sz="1500" dirty="0">
                          <a:solidFill>
                            <a:srgbClr val="1F2937"/>
                          </a:solidFill>
                          <a:latin typeface="Inter" pitchFamily="34" charset="0"/>
                          <a:ea typeface="Inter" pitchFamily="34" charset="-122"/>
                          <a:cs typeface="Inter" pitchFamily="34" charset="-120"/>
                        </a:rPr>
                        <a:t>Circuit analysis and power systems; dynamics and vibration</a:t>
                      </a:r>
                      <a:endParaRPr lang="en-US" sz="1500" dirty="0">
                        <a:latin typeface="Inter" charset="0"/>
                        <a:ea typeface="Inter" charset="0"/>
                        <a:cs typeface="Inter" charset="0"/>
                      </a:endParaRPr>
                    </a:p>
                  </a:txBody>
                  <a:tcPr marL="126997" marR="126997" marT="88898" marB="888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B2D5C"/>
                      </a:solidFill>
                      <a:prstDash val="solid"/>
                      <a:round/>
                      <a:headEnd type="none" w="med" len="med"/>
                      <a:tailEnd type="none" w="med" len="med"/>
                    </a:lnT>
                    <a:lnB w="12700" cap="flat" cmpd="sng" algn="ctr">
                      <a:solidFill>
                        <a:srgbClr val="0B2D5C"/>
                      </a:solidFill>
                      <a:prstDash val="solid"/>
                      <a:round/>
                      <a:headEnd type="none" w="med" len="med"/>
                      <a:tailEnd type="none" w="med" len="med"/>
                    </a:lnB>
                  </a:tcPr>
                </a:tc>
                <a:extLst>
                  <a:ext uri="{0D108BD9-81ED-4DB2-BD59-A6C34878D82A}">
                    <a16:rowId xmlns:a16="http://schemas.microsoft.com/office/drawing/2014/main" val="10001"/>
                  </a:ext>
                </a:extLst>
              </a:tr>
              <a:tr h="736582">
                <a:tc>
                  <a:txBody>
                    <a:bodyPr/>
                    <a:lstStyle/>
                    <a:p>
                      <a:pPr marL="0" indent="0" algn="l">
                        <a:buNone/>
                      </a:pPr>
                      <a:r>
                        <a:rPr lang="en-US" sz="1500" dirty="0">
                          <a:solidFill>
                            <a:srgbClr val="1F2937"/>
                          </a:solidFill>
                          <a:latin typeface="Inter" pitchFamily="34" charset="0"/>
                          <a:ea typeface="Inter" pitchFamily="34" charset="-122"/>
                          <a:cs typeface="Inter" pitchFamily="34" charset="-120"/>
                        </a:rPr>
                        <a:t>Robotics &amp; aerospace</a:t>
                      </a:r>
                      <a:endParaRPr lang="en-US" sz="1500" dirty="0">
                        <a:latin typeface="Inter" charset="0"/>
                        <a:ea typeface="Inter" charset="0"/>
                        <a:cs typeface="Inter" charset="0"/>
                      </a:endParaRPr>
                    </a:p>
                  </a:txBody>
                  <a:tcPr marL="126997" marR="126997" marT="88898" marB="888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B2D5C"/>
                      </a:solidFill>
                      <a:prstDash val="solid"/>
                      <a:round/>
                      <a:headEnd type="none" w="med" len="med"/>
                      <a:tailEnd type="none" w="med" len="med"/>
                    </a:lnT>
                    <a:lnB w="12700" cap="flat" cmpd="sng" algn="ctr">
                      <a:solidFill>
                        <a:srgbClr val="0B2D5C"/>
                      </a:solidFill>
                      <a:prstDash val="solid"/>
                      <a:round/>
                      <a:headEnd type="none" w="med" len="med"/>
                      <a:tailEnd type="none" w="med" len="med"/>
                    </a:lnB>
                  </a:tcPr>
                </a:tc>
                <a:tc>
                  <a:txBody>
                    <a:bodyPr/>
                    <a:lstStyle/>
                    <a:p>
                      <a:pPr marL="0" indent="0" algn="l">
                        <a:buNone/>
                      </a:pPr>
                      <a:r>
                        <a:rPr lang="en-US" sz="1500" dirty="0">
                          <a:solidFill>
                            <a:srgbClr val="1F2937"/>
                          </a:solidFill>
                          <a:latin typeface="Inter" pitchFamily="34" charset="0"/>
                          <a:ea typeface="Inter" pitchFamily="34" charset="-122"/>
                          <a:cs typeface="Inter" pitchFamily="34" charset="-120"/>
                        </a:rPr>
                        <a:t>Trajectory planning and control; flight dynamics and simulation</a:t>
                      </a:r>
                      <a:endParaRPr lang="en-US" sz="1500" dirty="0">
                        <a:latin typeface="Inter" charset="0"/>
                        <a:ea typeface="Inter" charset="0"/>
                        <a:cs typeface="Inter" charset="0"/>
                      </a:endParaRPr>
                    </a:p>
                  </a:txBody>
                  <a:tcPr marL="126997" marR="126997" marT="88898" marB="888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B2D5C"/>
                      </a:solidFill>
                      <a:prstDash val="solid"/>
                      <a:round/>
                      <a:headEnd type="none" w="med" len="med"/>
                      <a:tailEnd type="none" w="med" len="med"/>
                    </a:lnT>
                    <a:lnB w="12700" cap="flat" cmpd="sng" algn="ctr">
                      <a:solidFill>
                        <a:srgbClr val="0B2D5C"/>
                      </a:solidFill>
                      <a:prstDash val="solid"/>
                      <a:round/>
                      <a:headEnd type="none" w="med" len="med"/>
                      <a:tailEnd type="none" w="med" len="med"/>
                    </a:lnB>
                  </a:tcPr>
                </a:tc>
                <a:extLst>
                  <a:ext uri="{0D108BD9-81ED-4DB2-BD59-A6C34878D82A}">
                    <a16:rowId xmlns:a16="http://schemas.microsoft.com/office/drawing/2014/main" val="10002"/>
                  </a:ext>
                </a:extLst>
              </a:tr>
              <a:tr h="1006450">
                <a:tc>
                  <a:txBody>
                    <a:bodyPr/>
                    <a:lstStyle/>
                    <a:p>
                      <a:pPr marL="0" indent="0" algn="l">
                        <a:buNone/>
                      </a:pPr>
                      <a:r>
                        <a:rPr lang="en-US" sz="1500" dirty="0">
                          <a:solidFill>
                            <a:srgbClr val="1F2937"/>
                          </a:solidFill>
                          <a:latin typeface="Inter" pitchFamily="34" charset="0"/>
                          <a:ea typeface="Inter" pitchFamily="34" charset="-122"/>
                          <a:cs typeface="Inter" pitchFamily="34" charset="-120"/>
                        </a:rPr>
                        <a:t>Computer &amp; industrial engineering</a:t>
                      </a:r>
                      <a:endParaRPr lang="en-US" sz="1500" dirty="0">
                        <a:latin typeface="Inter" charset="0"/>
                        <a:ea typeface="Inter" charset="0"/>
                        <a:cs typeface="Inter" charset="0"/>
                      </a:endParaRPr>
                    </a:p>
                  </a:txBody>
                  <a:tcPr marL="126997" marR="126997" marT="88898" marB="888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B2D5C"/>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lgn="l">
                        <a:buNone/>
                      </a:pPr>
                      <a:r>
                        <a:rPr lang="en-US" sz="1500" dirty="0">
                          <a:solidFill>
                            <a:srgbClr val="1F2937"/>
                          </a:solidFill>
                          <a:latin typeface="Inter" pitchFamily="34" charset="0"/>
                          <a:ea typeface="Inter" pitchFamily="34" charset="-122"/>
                          <a:cs typeface="Inter" pitchFamily="34" charset="-120"/>
                        </a:rPr>
                        <a:t>Signal processing, image analysis, statistics, and optimization</a:t>
                      </a:r>
                      <a:endParaRPr lang="en-US" sz="1500" dirty="0">
                        <a:latin typeface="Inter" charset="0"/>
                        <a:ea typeface="Inter" charset="0"/>
                        <a:cs typeface="Inter" charset="0"/>
                      </a:endParaRPr>
                    </a:p>
                  </a:txBody>
                  <a:tcPr marL="126997" marR="126997" marT="88898" marB="8889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B2D5C"/>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Shape 3"/>
          <p:cNvSpPr/>
          <p:nvPr/>
        </p:nvSpPr>
        <p:spPr>
          <a:xfrm>
            <a:off x="7314918" y="1529060"/>
            <a:ext cx="4267192" cy="3702050"/>
          </a:xfrm>
          <a:prstGeom prst="rect">
            <a:avLst/>
          </a:prstGeom>
          <a:solidFill>
            <a:srgbClr val="EDF6FC"/>
          </a:solidFill>
          <a:ln w="19050">
            <a:solidFill>
              <a:srgbClr val="0B2D5C"/>
            </a:solidFill>
            <a:prstDash val="solid"/>
          </a:ln>
        </p:spPr>
        <p:txBody>
          <a:bodyPr/>
          <a:lstStyle/>
          <a:p>
            <a:endParaRPr lang="en-US"/>
          </a:p>
        </p:txBody>
      </p:sp>
      <p:sp>
        <p:nvSpPr>
          <p:cNvPr id="7" name="Text 4"/>
          <p:cNvSpPr/>
          <p:nvPr/>
        </p:nvSpPr>
        <p:spPr>
          <a:xfrm>
            <a:off x="7562562" y="1785918"/>
            <a:ext cx="3771905" cy="363141"/>
          </a:xfrm>
          <a:prstGeom prst="rect">
            <a:avLst/>
          </a:prstGeom>
          <a:noFill/>
          <a:ln/>
        </p:spPr>
        <p:txBody>
          <a:bodyPr wrap="none" lIns="0" tIns="0" rIns="0" bIns="0" rtlCol="0" anchor="t"/>
          <a:lstStyle/>
          <a:p>
            <a:pPr marL="0" indent="0" algn="l">
              <a:lnSpc>
                <a:spcPct val="108000"/>
              </a:lnSpc>
              <a:buNone/>
            </a:pPr>
            <a:r>
              <a:rPr lang="en-US" sz="2200" dirty="0">
                <a:solidFill>
                  <a:srgbClr val="000000"/>
                </a:solidFill>
                <a:latin typeface="Inter" pitchFamily="34" charset="0"/>
                <a:ea typeface="Inter" pitchFamily="34" charset="-122"/>
                <a:cs typeface="Inter" pitchFamily="34" charset="-120"/>
              </a:rPr>
              <a:t>Advantages</a:t>
            </a:r>
            <a:endParaRPr lang="en-US" sz="2200" dirty="0"/>
          </a:p>
        </p:txBody>
      </p:sp>
      <p:sp>
        <p:nvSpPr>
          <p:cNvPr id="8" name="Text 5"/>
          <p:cNvSpPr/>
          <p:nvPr/>
        </p:nvSpPr>
        <p:spPr>
          <a:xfrm>
            <a:off x="7562562" y="2260501"/>
            <a:ext cx="3771905" cy="828675"/>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000000"/>
                </a:solidFill>
                <a:latin typeface="Inter" pitchFamily="34" charset="0"/>
                <a:ea typeface="Inter" pitchFamily="34" charset="-122"/>
                <a:cs typeface="Inter" pitchFamily="34" charset="-120"/>
              </a:rPr>
              <a:t>Mathematical functions, scientific visualization, specialized tools, and fast prototyping.</a:t>
            </a:r>
            <a:endParaRPr lang="en-US" sz="1500" dirty="0"/>
          </a:p>
        </p:txBody>
      </p:sp>
      <p:sp>
        <p:nvSpPr>
          <p:cNvPr id="9" name="Shape 6"/>
          <p:cNvSpPr/>
          <p:nvPr/>
        </p:nvSpPr>
        <p:spPr>
          <a:xfrm>
            <a:off x="7562562" y="3233638"/>
            <a:ext cx="3771806" cy="31651"/>
          </a:xfrm>
          <a:prstGeom prst="roundRect">
            <a:avLst>
              <a:gd name="adj" fmla="val 49998"/>
            </a:avLst>
          </a:prstGeom>
          <a:solidFill>
            <a:srgbClr val="B9D4EA"/>
          </a:solidFill>
          <a:ln/>
        </p:spPr>
        <p:txBody>
          <a:bodyPr/>
          <a:lstStyle/>
          <a:p>
            <a:endParaRPr lang="en-US"/>
          </a:p>
        </p:txBody>
      </p:sp>
      <p:sp>
        <p:nvSpPr>
          <p:cNvPr id="5" name="Text 7"/>
          <p:cNvSpPr/>
          <p:nvPr/>
        </p:nvSpPr>
        <p:spPr>
          <a:xfrm>
            <a:off x="7562562" y="3473033"/>
            <a:ext cx="3771905" cy="363141"/>
          </a:xfrm>
          <a:prstGeom prst="rect">
            <a:avLst/>
          </a:prstGeom>
          <a:noFill/>
          <a:ln/>
        </p:spPr>
        <p:txBody>
          <a:bodyPr wrap="none" lIns="0" tIns="0" rIns="0" bIns="0" rtlCol="0" anchor="t"/>
          <a:lstStyle/>
          <a:p>
            <a:pPr marL="0" indent="0" algn="l">
              <a:lnSpc>
                <a:spcPct val="108000"/>
              </a:lnSpc>
              <a:buNone/>
            </a:pPr>
            <a:r>
              <a:rPr lang="en-US" sz="2200" dirty="0">
                <a:solidFill>
                  <a:srgbClr val="000000"/>
                </a:solidFill>
                <a:latin typeface="Inter" pitchFamily="34" charset="0"/>
                <a:ea typeface="Inter" pitchFamily="34" charset="-122"/>
                <a:cs typeface="Inter" pitchFamily="34" charset="-120"/>
              </a:rPr>
              <a:t>Limitations</a:t>
            </a:r>
            <a:endParaRPr lang="en-US" sz="2200" dirty="0"/>
          </a:p>
        </p:txBody>
      </p:sp>
      <p:sp>
        <p:nvSpPr>
          <p:cNvPr id="11" name="Text 8"/>
          <p:cNvSpPr/>
          <p:nvPr/>
        </p:nvSpPr>
        <p:spPr>
          <a:xfrm>
            <a:off x="7562562" y="3947616"/>
            <a:ext cx="3771905" cy="828675"/>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000000"/>
                </a:solidFill>
                <a:latin typeface="Inter" pitchFamily="34" charset="0"/>
                <a:ea typeface="Inter" pitchFamily="34" charset="-122"/>
                <a:cs typeface="Inter" pitchFamily="34" charset="-120"/>
              </a:rPr>
              <a:t>Commercial licensing cost and paid toolboxes; open-source alternatives such as Python for some projects.</a:t>
            </a:r>
            <a:endParaRPr lang="en-US" sz="1500" dirty="0"/>
          </a:p>
        </p:txBody>
      </p:sp>
      <p:sp>
        <p:nvSpPr>
          <p:cNvPr id="12" name="Shape 9"/>
          <p:cNvSpPr/>
          <p:nvPr/>
        </p:nvSpPr>
        <p:spPr>
          <a:xfrm>
            <a:off x="0" y="6223000"/>
            <a:ext cx="12191695" cy="9525"/>
          </a:xfrm>
          <a:prstGeom prst="rect">
            <a:avLst/>
          </a:prstGeom>
          <a:solidFill>
            <a:srgbClr val="1F2937">
              <a:alpha val="20000"/>
            </a:srgbClr>
          </a:solidFill>
          <a:ln/>
        </p:spPr>
        <p:txBody>
          <a:bodyPr/>
          <a:lstStyle/>
          <a:p>
            <a:endParaRPr lang="en-US"/>
          </a:p>
        </p:txBody>
      </p:sp>
      <p:sp>
        <p:nvSpPr>
          <p:cNvPr id="13" name="Text 10"/>
          <p:cNvSpPr/>
          <p:nvPr/>
        </p:nvSpPr>
        <p:spPr>
          <a:xfrm>
            <a:off x="11944250" y="6452989"/>
            <a:ext cx="247445" cy="174923"/>
          </a:xfrm>
          <a:prstGeom prst="rect">
            <a:avLst/>
          </a:prstGeom>
          <a:noFill/>
          <a:ln/>
        </p:spPr>
        <p:txBody>
          <a:bodyPr wrap="none" lIns="0" tIns="0" rIns="0" bIns="0" rtlCol="0" anchor="ctr"/>
          <a:lstStyle/>
          <a:p>
            <a:pPr marL="0" indent="0" algn="l">
              <a:lnSpc>
                <a:spcPct val="121000"/>
              </a:lnSpc>
              <a:buNone/>
            </a:pPr>
            <a:r>
              <a:rPr lang="en-US" sz="950" dirty="0">
                <a:solidFill>
                  <a:srgbClr val="1F2937"/>
                </a:solidFill>
                <a:latin typeface="Inter" pitchFamily="34" charset="0"/>
                <a:ea typeface="Inter" pitchFamily="34" charset="-122"/>
                <a:cs typeface="Inter"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09585" y="619919"/>
            <a:ext cx="11582110" cy="206375"/>
          </a:xfrm>
          <a:prstGeom prst="rect">
            <a:avLst/>
          </a:prstGeom>
          <a:noFill/>
          <a:ln/>
        </p:spPr>
        <p:txBody>
          <a:bodyPr wrap="none" lIns="0" tIns="0" rIns="0" bIns="0" rtlCol="0" anchor="t"/>
          <a:lstStyle/>
          <a:p>
            <a:pPr marL="0" indent="0" algn="l">
              <a:lnSpc>
                <a:spcPct val="104000"/>
              </a:lnSpc>
              <a:buNone/>
            </a:pPr>
            <a:r>
              <a:rPr lang="en-US" sz="1300" b="1" kern="100" spc="13" dirty="0">
                <a:solidFill>
                  <a:srgbClr val="0B2D5C"/>
                </a:solidFill>
                <a:latin typeface="Inter Bold" pitchFamily="34" charset="0"/>
                <a:ea typeface="Inter Bold" pitchFamily="34" charset="-122"/>
                <a:cs typeface="Inter Bold" pitchFamily="34" charset="-120"/>
              </a:rPr>
              <a:t>NEXT STEPS &amp; RESOURCES</a:t>
            </a:r>
            <a:endParaRPr lang="en-US" sz="1300" dirty="0"/>
          </a:p>
        </p:txBody>
      </p:sp>
      <p:sp>
        <p:nvSpPr>
          <p:cNvPr id="3" name="Text 1"/>
          <p:cNvSpPr/>
          <p:nvPr/>
        </p:nvSpPr>
        <p:spPr>
          <a:xfrm>
            <a:off x="609585" y="915496"/>
            <a:ext cx="10972526" cy="614660"/>
          </a:xfrm>
          <a:prstGeom prst="rect">
            <a:avLst/>
          </a:prstGeom>
          <a:noFill/>
          <a:ln/>
        </p:spPr>
        <p:txBody>
          <a:bodyPr wrap="none" lIns="0" tIns="0" rIns="0" bIns="0" rtlCol="0" anchor="t"/>
          <a:lstStyle/>
          <a:p>
            <a:pPr marL="0" indent="0" algn="l">
              <a:lnSpc>
                <a:spcPct val="92000"/>
              </a:lnSpc>
              <a:buNone/>
            </a:pPr>
            <a:r>
              <a:rPr lang="en-US" sz="4400" kern="100" spc="-22" dirty="0">
                <a:solidFill>
                  <a:srgbClr val="0B2D5C"/>
                </a:solidFill>
                <a:latin typeface="Inter ExtraBold" pitchFamily="34" charset="0"/>
                <a:ea typeface="Inter ExtraBold" pitchFamily="34" charset="-122"/>
                <a:cs typeface="Inter ExtraBold" pitchFamily="34" charset="-120"/>
              </a:rPr>
              <a:t>Start Small, Build, and Keep Learning</a:t>
            </a:r>
            <a:endParaRPr lang="en-US" sz="4400" dirty="0"/>
          </a:p>
        </p:txBody>
      </p:sp>
      <p:sp>
        <p:nvSpPr>
          <p:cNvPr id="4" name="Text 2"/>
          <p:cNvSpPr/>
          <p:nvPr/>
        </p:nvSpPr>
        <p:spPr>
          <a:xfrm>
            <a:off x="609585" y="1906568"/>
            <a:ext cx="5333867" cy="363141"/>
          </a:xfrm>
          <a:prstGeom prst="rect">
            <a:avLst/>
          </a:prstGeom>
          <a:noFill/>
          <a:ln/>
        </p:spPr>
        <p:txBody>
          <a:bodyPr wrap="none" lIns="0" tIns="0" rIns="0" bIns="0" rtlCol="0" anchor="t"/>
          <a:lstStyle/>
          <a:p>
            <a:pPr marL="0" indent="0" algn="l">
              <a:lnSpc>
                <a:spcPct val="108000"/>
              </a:lnSpc>
              <a:buNone/>
            </a:pPr>
            <a:r>
              <a:rPr lang="en-US" sz="2200" dirty="0">
                <a:solidFill>
                  <a:srgbClr val="0B2D5C"/>
                </a:solidFill>
                <a:latin typeface="Inter" pitchFamily="34" charset="0"/>
                <a:ea typeface="Inter" pitchFamily="34" charset="-122"/>
                <a:cs typeface="Inter" pitchFamily="34" charset="-120"/>
              </a:rPr>
              <a:t>Learning roadmap</a:t>
            </a:r>
            <a:endParaRPr lang="en-US" sz="2200" dirty="0"/>
          </a:p>
        </p:txBody>
      </p:sp>
      <p:sp>
        <p:nvSpPr>
          <p:cNvPr id="5" name="Text 3"/>
          <p:cNvSpPr/>
          <p:nvPr/>
        </p:nvSpPr>
        <p:spPr>
          <a:xfrm>
            <a:off x="609585" y="2381151"/>
            <a:ext cx="5333867" cy="1822450"/>
          </a:xfrm>
          <a:prstGeom prst="rect">
            <a:avLst/>
          </a:prstGeom>
          <a:noFill/>
          <a:ln/>
        </p:spPr>
        <p:txBody>
          <a:bodyPr wrap="square" lIns="0" tIns="0" rIns="0" bIns="0" rtlCol="0" anchor="t">
            <a:normAutofit/>
          </a:bodyPr>
          <a:lstStyle/>
          <a:p>
            <a:pPr marL="304800" indent="-304800" algn="l">
              <a:lnSpc>
                <a:spcPct val="121000"/>
              </a:lnSpc>
              <a:buSzPct val="100000"/>
              <a:buFont typeface="+mj-lt"/>
              <a:buAutoNum type="arabicPeriod"/>
            </a:pPr>
            <a:r>
              <a:rPr lang="en-US" sz="1500" dirty="0">
                <a:solidFill>
                  <a:srgbClr val="1F2937"/>
                </a:solidFill>
                <a:latin typeface="Inter" pitchFamily="34" charset="0"/>
                <a:ea typeface="Inter" pitchFamily="34" charset="-122"/>
                <a:cs typeface="Inter" pitchFamily="34" charset="-120"/>
              </a:rPr>
              <a:t>Learn commands, variables, and arrays</a:t>
            </a:r>
            <a:endParaRPr lang="en-US" sz="1500" dirty="0"/>
          </a:p>
          <a:p>
            <a:pPr marL="304800" indent="-304800" algn="l">
              <a:lnSpc>
                <a:spcPct val="121000"/>
              </a:lnSpc>
              <a:buSzPct val="100000"/>
              <a:buFont typeface="+mj-lt"/>
              <a:buAutoNum type="arabicPeriod" startAt="2"/>
            </a:pPr>
            <a:r>
              <a:rPr lang="en-US" sz="1500" dirty="0">
                <a:solidFill>
                  <a:srgbClr val="1F2937"/>
                </a:solidFill>
                <a:latin typeface="Inter" pitchFamily="34" charset="0"/>
                <a:ea typeface="Inter" pitchFamily="34" charset="-122"/>
                <a:cs typeface="Inter" pitchFamily="34" charset="-120"/>
              </a:rPr>
              <a:t>Practice conditions, loops, and functions</a:t>
            </a:r>
            <a:endParaRPr lang="en-US" sz="1500" dirty="0"/>
          </a:p>
          <a:p>
            <a:pPr marL="304800" indent="-304800" algn="l">
              <a:lnSpc>
                <a:spcPct val="121000"/>
              </a:lnSpc>
              <a:buSzPct val="100000"/>
              <a:buFont typeface="+mj-lt"/>
              <a:buAutoNum type="arabicPeriod" startAt="3"/>
            </a:pPr>
            <a:r>
              <a:rPr lang="en-US" sz="1500" dirty="0">
                <a:solidFill>
                  <a:srgbClr val="1F2937"/>
                </a:solidFill>
                <a:latin typeface="Inter" pitchFamily="34" charset="0"/>
                <a:ea typeface="Inter" pitchFamily="34" charset="-122"/>
                <a:cs typeface="Inter" pitchFamily="34" charset="-120"/>
              </a:rPr>
              <a:t>Learn plotting and data analysis</a:t>
            </a:r>
            <a:endParaRPr lang="en-US" sz="1500" dirty="0"/>
          </a:p>
          <a:p>
            <a:pPr marL="304800" indent="-304800" algn="l">
              <a:lnSpc>
                <a:spcPct val="121000"/>
              </a:lnSpc>
              <a:buSzPct val="100000"/>
              <a:buFont typeface="+mj-lt"/>
              <a:buAutoNum type="arabicPeriod" startAt="4"/>
            </a:pPr>
            <a:r>
              <a:rPr lang="en-US" sz="1500" dirty="0">
                <a:solidFill>
                  <a:srgbClr val="1F2937"/>
                </a:solidFill>
                <a:latin typeface="Inter" pitchFamily="34" charset="0"/>
                <a:ea typeface="Inter" pitchFamily="34" charset="-122"/>
                <a:cs typeface="Inter" pitchFamily="34" charset="-120"/>
              </a:rPr>
              <a:t>Choose a specialization for your field</a:t>
            </a:r>
            <a:endParaRPr lang="en-US" sz="1500" dirty="0"/>
          </a:p>
          <a:p>
            <a:pPr marL="304800" indent="-304800" algn="l">
              <a:lnSpc>
                <a:spcPct val="121000"/>
              </a:lnSpc>
              <a:buSzPct val="100000"/>
              <a:buFont typeface="+mj-lt"/>
              <a:buAutoNum type="arabicPeriod" startAt="5"/>
            </a:pPr>
            <a:r>
              <a:rPr lang="en-US" sz="1500" dirty="0">
                <a:solidFill>
                  <a:srgbClr val="1F2937"/>
                </a:solidFill>
                <a:latin typeface="Inter" pitchFamily="34" charset="0"/>
                <a:ea typeface="Inter" pitchFamily="34" charset="-122"/>
                <a:cs typeface="Inter" pitchFamily="34" charset="-120"/>
              </a:rPr>
              <a:t>Complete a small practical project and explain the result</a:t>
            </a:r>
            <a:endParaRPr lang="en-US" sz="1500" dirty="0"/>
          </a:p>
        </p:txBody>
      </p:sp>
      <p:sp>
        <p:nvSpPr>
          <p:cNvPr id="6" name="Shape 4"/>
          <p:cNvSpPr/>
          <p:nvPr/>
        </p:nvSpPr>
        <p:spPr>
          <a:xfrm>
            <a:off x="6248244" y="1668760"/>
            <a:ext cx="5333867" cy="2763441"/>
          </a:xfrm>
          <a:prstGeom prst="rect">
            <a:avLst/>
          </a:prstGeom>
          <a:solidFill>
            <a:srgbClr val="EAF4FB"/>
          </a:solidFill>
          <a:ln/>
        </p:spPr>
        <p:txBody>
          <a:bodyPr/>
          <a:lstStyle/>
          <a:p>
            <a:endParaRPr lang="en-US"/>
          </a:p>
        </p:txBody>
      </p:sp>
      <p:sp>
        <p:nvSpPr>
          <p:cNvPr id="7" name="Text 5"/>
          <p:cNvSpPr/>
          <p:nvPr/>
        </p:nvSpPr>
        <p:spPr>
          <a:xfrm>
            <a:off x="6476838" y="1906568"/>
            <a:ext cx="4876678" cy="363141"/>
          </a:xfrm>
          <a:prstGeom prst="rect">
            <a:avLst/>
          </a:prstGeom>
          <a:noFill/>
          <a:ln/>
        </p:spPr>
        <p:txBody>
          <a:bodyPr wrap="none" lIns="0" tIns="0" rIns="0" bIns="0" rtlCol="0" anchor="t"/>
          <a:lstStyle/>
          <a:p>
            <a:pPr marL="0" indent="0" algn="l">
              <a:lnSpc>
                <a:spcPct val="108000"/>
              </a:lnSpc>
              <a:buNone/>
            </a:pPr>
            <a:r>
              <a:rPr lang="en-US" sz="2200" dirty="0">
                <a:solidFill>
                  <a:srgbClr val="1F2937"/>
                </a:solidFill>
                <a:latin typeface="Inter" pitchFamily="34" charset="0"/>
                <a:ea typeface="Inter" pitchFamily="34" charset="-122"/>
                <a:cs typeface="Inter" pitchFamily="34" charset="-120"/>
              </a:rPr>
              <a:t>Official learning resources</a:t>
            </a:r>
            <a:endParaRPr lang="en-US" sz="2200" dirty="0"/>
          </a:p>
        </p:txBody>
      </p:sp>
      <p:sp>
        <p:nvSpPr>
          <p:cNvPr id="8" name="Text 6"/>
          <p:cNvSpPr/>
          <p:nvPr/>
        </p:nvSpPr>
        <p:spPr>
          <a:xfrm>
            <a:off x="6476838" y="2381151"/>
            <a:ext cx="4876678" cy="1739900"/>
          </a:xfrm>
          <a:prstGeom prst="rect">
            <a:avLst/>
          </a:prstGeom>
          <a:noFill/>
          <a:ln/>
        </p:spPr>
        <p:txBody>
          <a:bodyPr wrap="square" lIns="0" tIns="0" rIns="0" bIns="0" rtlCol="0" anchor="t">
            <a:normAutofit/>
          </a:bodyPr>
          <a:lstStyle/>
          <a:p>
            <a:pPr marL="304800" indent="-304800" algn="l">
              <a:lnSpc>
                <a:spcPct val="121000"/>
              </a:lnSpc>
              <a:buSzPct val="100000"/>
              <a:buChar char="•"/>
            </a:pPr>
            <a:r>
              <a:rPr lang="en-US" sz="1500" dirty="0">
                <a:solidFill>
                  <a:srgbClr val="1F2937"/>
                </a:solidFill>
                <a:latin typeface="Inter" pitchFamily="34" charset="0"/>
                <a:ea typeface="Inter" pitchFamily="34" charset="-122"/>
                <a:cs typeface="Inter" pitchFamily="34" charset="-120"/>
              </a:rPr>
              <a:t>MATLAB Academy:</a:t>
            </a:r>
            <a:endParaRPr lang="en-US" sz="1500" dirty="0"/>
          </a:p>
          <a:p>
            <a:pPr marL="304800" indent="-304800" algn="l">
              <a:lnSpc>
                <a:spcPct val="121000"/>
              </a:lnSpc>
              <a:buSzPct val="100000"/>
              <a:buChar char="​"/>
            </a:pPr>
            <a:r>
              <a:rPr lang="en-US" sz="1350" b="1" u="sng" dirty="0">
                <a:solidFill>
                  <a:srgbClr val="0B2D5C"/>
                </a:solidFill>
                <a:latin typeface="Inter Bold" pitchFamily="34" charset="0"/>
                <a:ea typeface="Inter Bold" pitchFamily="34" charset="-122"/>
                <a:cs typeface="Inter Bold" pitchFamily="34" charset="-120"/>
                <a:hlinkClick r:id="rId3">
                  <a:extLst>
                    <a:ext uri="{A12FA001-AC4F-418D-AE19-62706E023703}">
                      <ahyp:hlinkClr xmlns:ahyp="http://schemas.microsoft.com/office/drawing/2018/hyperlinkcolor" val="tx"/>
                    </a:ext>
                  </a:extLst>
                </a:hlinkClick>
              </a:rPr>
              <a:t>https://matlabacademy.mathworks.com/</a:t>
            </a:r>
            <a:endParaRPr lang="en-US" sz="1500" dirty="0"/>
          </a:p>
          <a:p>
            <a:pPr marL="304800" indent="-304800" algn="l">
              <a:lnSpc>
                <a:spcPct val="121000"/>
              </a:lnSpc>
              <a:buSzPct val="100000"/>
              <a:buChar char="•"/>
            </a:pPr>
            <a:r>
              <a:rPr lang="en-US" sz="1500" dirty="0">
                <a:solidFill>
                  <a:srgbClr val="1F2937"/>
                </a:solidFill>
                <a:latin typeface="Inter" pitchFamily="34" charset="0"/>
                <a:ea typeface="Inter" pitchFamily="34" charset="-122"/>
                <a:cs typeface="Inter" pitchFamily="34" charset="-120"/>
              </a:rPr>
              <a:t>MATLAB Documentation:</a:t>
            </a:r>
            <a:endParaRPr lang="en-US" sz="1500" dirty="0"/>
          </a:p>
          <a:p>
            <a:pPr marL="304800" indent="-304800" algn="l">
              <a:lnSpc>
                <a:spcPct val="121000"/>
              </a:lnSpc>
              <a:buSzPct val="100000"/>
              <a:buChar char="​"/>
            </a:pPr>
            <a:r>
              <a:rPr lang="en-US" sz="1350" b="1" u="sng" dirty="0">
                <a:solidFill>
                  <a:srgbClr val="0B2D5C"/>
                </a:solidFill>
                <a:latin typeface="Inter Bold" pitchFamily="34" charset="0"/>
                <a:ea typeface="Inter Bold" pitchFamily="34" charset="-122"/>
                <a:cs typeface="Inter Bold" pitchFamily="34" charset="-120"/>
                <a:hlinkClick r:id="rId4">
                  <a:extLst>
                    <a:ext uri="{A12FA001-AC4F-418D-AE19-62706E023703}">
                      <ahyp:hlinkClr xmlns:ahyp="http://schemas.microsoft.com/office/drawing/2018/hyperlinkcolor" val="tx"/>
                    </a:ext>
                  </a:extLst>
                </a:hlinkClick>
              </a:rPr>
              <a:t>https://www.mathworks.com/help/matlab/</a:t>
            </a:r>
            <a:endParaRPr lang="en-US" sz="1500" dirty="0"/>
          </a:p>
          <a:p>
            <a:pPr marL="304800" indent="-304800" algn="l">
              <a:lnSpc>
                <a:spcPct val="121000"/>
              </a:lnSpc>
              <a:buSzPct val="100000"/>
              <a:buChar char="•"/>
            </a:pPr>
            <a:r>
              <a:rPr lang="en-US" sz="1500" dirty="0">
                <a:solidFill>
                  <a:srgbClr val="1F2937"/>
                </a:solidFill>
                <a:latin typeface="Inter" pitchFamily="34" charset="0"/>
                <a:ea typeface="Inter" pitchFamily="34" charset="-122"/>
                <a:cs typeface="Inter" pitchFamily="34" charset="-120"/>
              </a:rPr>
              <a:t>Official MATLAB:</a:t>
            </a:r>
            <a:endParaRPr lang="en-US" sz="1500" dirty="0"/>
          </a:p>
          <a:p>
            <a:pPr marL="304800" indent="-304800" algn="l">
              <a:lnSpc>
                <a:spcPct val="121000"/>
              </a:lnSpc>
              <a:buSzPct val="100000"/>
              <a:buChar char="​"/>
            </a:pPr>
            <a:r>
              <a:rPr lang="en-US" sz="1350" b="1" u="sng" dirty="0">
                <a:solidFill>
                  <a:srgbClr val="0B2D5C"/>
                </a:solidFill>
                <a:latin typeface="Inter Bold" pitchFamily="34" charset="0"/>
                <a:ea typeface="Inter Bold" pitchFamily="34" charset="-122"/>
                <a:cs typeface="Inter Bold" pitchFamily="34" charset="-120"/>
                <a:hlinkClick r:id="rId5">
                  <a:extLst>
                    <a:ext uri="{A12FA001-AC4F-418D-AE19-62706E023703}">
                      <ahyp:hlinkClr xmlns:ahyp="http://schemas.microsoft.com/office/drawing/2018/hyperlinkcolor" val="tx"/>
                    </a:ext>
                  </a:extLst>
                </a:hlinkClick>
              </a:rPr>
              <a:t>https://www.mathworks.com/products/matlab.html</a:t>
            </a:r>
            <a:endParaRPr lang="en-US" sz="1500" dirty="0"/>
          </a:p>
        </p:txBody>
      </p:sp>
      <p:sp>
        <p:nvSpPr>
          <p:cNvPr id="9" name="Shape 7"/>
          <p:cNvSpPr/>
          <p:nvPr/>
        </p:nvSpPr>
        <p:spPr>
          <a:xfrm>
            <a:off x="609585" y="4584601"/>
            <a:ext cx="10972526" cy="667941"/>
          </a:xfrm>
          <a:prstGeom prst="rect">
            <a:avLst/>
          </a:prstGeom>
          <a:solidFill>
            <a:srgbClr val="FFF2E3"/>
          </a:solidFill>
          <a:ln/>
        </p:spPr>
        <p:txBody>
          <a:bodyPr/>
          <a:lstStyle/>
          <a:p>
            <a:endParaRPr lang="en-US"/>
          </a:p>
        </p:txBody>
      </p:sp>
      <p:sp>
        <p:nvSpPr>
          <p:cNvPr id="10" name="Text 8"/>
          <p:cNvSpPr/>
          <p:nvPr/>
        </p:nvSpPr>
        <p:spPr>
          <a:xfrm>
            <a:off x="838129" y="4746208"/>
            <a:ext cx="10515337" cy="363141"/>
          </a:xfrm>
          <a:prstGeom prst="rect">
            <a:avLst/>
          </a:prstGeom>
          <a:noFill/>
          <a:ln/>
        </p:spPr>
        <p:txBody>
          <a:bodyPr wrap="none" lIns="0" tIns="0" rIns="0" bIns="0" rtlCol="0" anchor="t"/>
          <a:lstStyle/>
          <a:p>
            <a:pPr marL="0" indent="0" algn="ctr">
              <a:lnSpc>
                <a:spcPct val="108000"/>
              </a:lnSpc>
              <a:buNone/>
            </a:pPr>
            <a:r>
              <a:rPr lang="en-US" sz="2200" dirty="0">
                <a:solidFill>
                  <a:srgbClr val="000000"/>
                </a:solidFill>
                <a:latin typeface="Inter" pitchFamily="34" charset="0"/>
                <a:ea typeface="Inter" pitchFamily="34" charset="-122"/>
                <a:cs typeface="Inter" pitchFamily="34" charset="-120"/>
              </a:rPr>
              <a:t>Thank You for Your Attention — Questions and Discussion.</a:t>
            </a:r>
            <a:endParaRPr lang="en-US" sz="2200" dirty="0"/>
          </a:p>
        </p:txBody>
      </p:sp>
      <p:sp>
        <p:nvSpPr>
          <p:cNvPr id="11" name="Shape 9"/>
          <p:cNvSpPr/>
          <p:nvPr/>
        </p:nvSpPr>
        <p:spPr>
          <a:xfrm>
            <a:off x="0" y="6223000"/>
            <a:ext cx="12191695" cy="9525"/>
          </a:xfrm>
          <a:prstGeom prst="rect">
            <a:avLst/>
          </a:prstGeom>
          <a:solidFill>
            <a:srgbClr val="1F2937">
              <a:alpha val="20000"/>
            </a:srgbClr>
          </a:solidFill>
          <a:ln/>
        </p:spPr>
        <p:txBody>
          <a:bodyPr/>
          <a:lstStyle/>
          <a:p>
            <a:endParaRPr lang="en-US"/>
          </a:p>
        </p:txBody>
      </p:sp>
      <p:sp>
        <p:nvSpPr>
          <p:cNvPr id="12" name="Text 10"/>
          <p:cNvSpPr/>
          <p:nvPr/>
        </p:nvSpPr>
        <p:spPr>
          <a:xfrm>
            <a:off x="11893947" y="6452989"/>
            <a:ext cx="297748" cy="174923"/>
          </a:xfrm>
          <a:prstGeom prst="rect">
            <a:avLst/>
          </a:prstGeom>
          <a:noFill/>
          <a:ln/>
        </p:spPr>
        <p:txBody>
          <a:bodyPr wrap="none" lIns="0" tIns="0" rIns="0" bIns="0" rtlCol="0" anchor="ctr"/>
          <a:lstStyle/>
          <a:p>
            <a:pPr marL="0" indent="0" algn="l">
              <a:lnSpc>
                <a:spcPct val="121000"/>
              </a:lnSpc>
              <a:buNone/>
            </a:pPr>
            <a:r>
              <a:rPr lang="en-US" sz="950" dirty="0">
                <a:solidFill>
                  <a:srgbClr val="1F2937"/>
                </a:solidFill>
                <a:latin typeface="Inter" pitchFamily="34" charset="0"/>
                <a:ea typeface="Inter" pitchFamily="34" charset="-122"/>
                <a:cs typeface="Inter" pitchFamily="34" charset="-120"/>
              </a:rPr>
              <a:t>10</a:t>
            </a:r>
            <a:endParaRPr lang="en-US" sz="950" dirty="0"/>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0</TotalTime>
  <Words>2745</Words>
  <Application>Microsoft Office PowerPoint</Application>
  <PresentationFormat>Widescreen</PresentationFormat>
  <Paragraphs>163</Paragraphs>
  <Slides>10</Slides>
  <Notes>10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vt:i4>
      </vt:variant>
    </vt:vector>
  </HeadingPairs>
  <TitlesOfParts>
    <vt:vector size="20" baseType="lpstr">
      <vt:lpstr>Inter Bold</vt:lpstr>
      <vt:lpstr>Calibri</vt:lpstr>
      <vt:lpstr>Inter ExtraBold</vt:lpstr>
      <vt:lpstr>Calibri Light</vt:lpstr>
      <vt:lpstr>Consolas</vt:lpstr>
      <vt:lpstr>Inter Black</vt:lpstr>
      <vt:lpstr>Inter</vt:lpstr>
      <vt:lpstr>Inter Medium</vt:lpstr>
      <vt:lpstr>Arial</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Amir Mirpour</cp:lastModifiedBy>
  <cp:revision>3</cp:revision>
  <dcterms:created xsi:type="dcterms:W3CDTF">2026-10-21T10:24:07Z</dcterms:created>
  <dcterms:modified xsi:type="dcterms:W3CDTF">2026-10-25T09:02:46Z</dcterms:modified>
</cp:coreProperties>
</file>